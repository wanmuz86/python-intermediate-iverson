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embeddedFontLst>
    <p:embeddedFont>
      <p:font typeface="Roboto Mono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Mono-bold.fntdata"/><Relationship Id="rId11" Type="http://schemas.openxmlformats.org/officeDocument/2006/relationships/slide" Target="slides/slide6.xml"/><Relationship Id="rId22" Type="http://schemas.openxmlformats.org/officeDocument/2006/relationships/font" Target="fonts/RobotoMono-boldItalic.fntdata"/><Relationship Id="rId10" Type="http://schemas.openxmlformats.org/officeDocument/2006/relationships/slide" Target="slides/slide5.xml"/><Relationship Id="rId21" Type="http://schemas.openxmlformats.org/officeDocument/2006/relationships/font" Target="fonts/RobotoMono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RobotoMono-regular.fntdata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bd876f45bf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bd876f45bf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bd876f45b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bd876f45b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Emphasize that the class body runs at definition time.</a:t>
            </a:r>
            <a:br>
              <a:rPr lang="en" sz="1600">
                <a:solidFill>
                  <a:schemeClr val="dk1"/>
                </a:solidFill>
              </a:rPr>
            </a:br>
            <a:r>
              <a:rPr lang="en" sz="1600">
                <a:solidFill>
                  <a:schemeClr val="dk1"/>
                </a:solidFill>
              </a:rPr>
              <a:t> Clarify difference between class attributes and instance attributes.</a:t>
            </a:r>
            <a:br>
              <a:rPr lang="en" sz="1600">
                <a:solidFill>
                  <a:schemeClr val="dk1"/>
                </a:solidFill>
              </a:rPr>
            </a:br>
            <a:r>
              <a:rPr lang="en" sz="1600">
                <a:solidFill>
                  <a:schemeClr val="dk1"/>
                </a:solidFill>
              </a:rPr>
              <a:t> Reinforce </a:t>
            </a: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self</a:t>
            </a:r>
            <a:r>
              <a:rPr lang="en" sz="1600">
                <a:solidFill>
                  <a:schemeClr val="dk1"/>
                </a:solidFill>
              </a:rPr>
              <a:t> is explicit in Python by design.</a:t>
            </a:r>
            <a:endParaRPr sz="1600">
              <a:solidFill>
                <a:schemeClr val="dk1"/>
              </a:solidFill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bd876f45bf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bd876f45bf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bd876f45bf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bd876f45bf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Explain why calling parent initializers is critical.</a:t>
            </a:r>
            <a:br>
              <a:rPr lang="en" sz="1600">
                <a:solidFill>
                  <a:schemeClr val="dk1"/>
                </a:solidFill>
              </a:rPr>
            </a:br>
            <a:r>
              <a:rPr lang="en" sz="1600">
                <a:solidFill>
                  <a:schemeClr val="dk1"/>
                </a:solidFill>
              </a:rPr>
              <a:t> Mention that </a:t>
            </a: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super()</a:t>
            </a:r>
            <a:r>
              <a:rPr lang="en" sz="1600">
                <a:solidFill>
                  <a:schemeClr val="dk1"/>
                </a:solidFill>
              </a:rPr>
              <a:t> follows MRO, not just “parent”.</a:t>
            </a:r>
            <a:br>
              <a:rPr lang="en" sz="1600">
                <a:solidFill>
                  <a:schemeClr val="dk1"/>
                </a:solidFill>
              </a:rPr>
            </a:br>
            <a:r>
              <a:rPr lang="en" sz="1600">
                <a:solidFill>
                  <a:schemeClr val="dk1"/>
                </a:solidFill>
              </a:rPr>
              <a:t> Avoid manually calling parent class names.</a:t>
            </a:r>
            <a:endParaRPr sz="160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bd876f45bf_0_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bd876f45bf_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bd876f45bf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bd876f45bf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bd876f45bf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bd876f45bf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Explain “contract before implementation”.</a:t>
            </a:r>
            <a:br>
              <a:rPr lang="en" sz="1600">
                <a:solidFill>
                  <a:schemeClr val="dk1"/>
                </a:solidFill>
              </a:rPr>
            </a:br>
            <a:r>
              <a:rPr lang="en" sz="1600">
                <a:solidFill>
                  <a:schemeClr val="dk1"/>
                </a:solidFill>
              </a:rPr>
              <a:t> Show what happens if abstract methods aren’t implemented.</a:t>
            </a:r>
            <a:br>
              <a:rPr lang="en" sz="1600">
                <a:solidFill>
                  <a:schemeClr val="dk1"/>
                </a:solidFill>
              </a:rPr>
            </a:br>
            <a:r>
              <a:rPr lang="en" sz="1600">
                <a:solidFill>
                  <a:schemeClr val="dk1"/>
                </a:solidFill>
              </a:rPr>
              <a:t> Relate to real-world interfaces (payment, storage, logging).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bd876f45bf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bd876f45bf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bd876f45bf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bd876f45bf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Emphasize docstrings are not comments.</a:t>
            </a:r>
            <a:br>
              <a:rPr lang="en" sz="1600">
                <a:solidFill>
                  <a:schemeClr val="dk1"/>
                </a:solidFill>
              </a:rPr>
            </a:br>
            <a:r>
              <a:rPr lang="en" sz="1600">
                <a:solidFill>
                  <a:schemeClr val="dk1"/>
                </a:solidFill>
              </a:rPr>
              <a:t> Show how tools extract documentation automatically.</a:t>
            </a:r>
            <a:br>
              <a:rPr lang="en" sz="1600">
                <a:solidFill>
                  <a:schemeClr val="dk1"/>
                </a:solidFill>
              </a:rPr>
            </a:br>
            <a:r>
              <a:rPr lang="en" sz="1600">
                <a:solidFill>
                  <a:schemeClr val="dk1"/>
                </a:solidFill>
              </a:rPr>
              <a:t> Encourage writing docstrings from day one.</a:t>
            </a:r>
            <a:endParaRPr sz="160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bd876f45bf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bd876f45bf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bd876f45bf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bd876f45bf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bd876f45bf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bd876f45bf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Walk through the lookup order step by step.</a:t>
            </a:r>
            <a:br>
              <a:rPr lang="en" sz="1600">
                <a:solidFill>
                  <a:schemeClr val="dk1"/>
                </a:solidFill>
              </a:rPr>
            </a:br>
            <a:r>
              <a:rPr lang="en" sz="1600">
                <a:solidFill>
                  <a:schemeClr val="dk1"/>
                </a:solidFill>
              </a:rPr>
              <a:t> Explain common bugs caused by shadowing variables.</a:t>
            </a:r>
            <a:br>
              <a:rPr lang="en" sz="1600">
                <a:solidFill>
                  <a:schemeClr val="dk1"/>
                </a:solidFill>
              </a:rPr>
            </a:br>
            <a:r>
              <a:rPr lang="en" sz="1600">
                <a:solidFill>
                  <a:schemeClr val="dk1"/>
                </a:solidFill>
              </a:rPr>
              <a:t> Connect LEGB to attribute lookup learned earlier.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bd876f45bf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bd876f45bf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Intermediate Python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Class Coding Details</a:t>
            </a:r>
            <a:endParaRPr/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99100" y="253734"/>
            <a:ext cx="1854751" cy="453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62138" y="3626725"/>
            <a:ext cx="1419725" cy="1419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class</a:t>
            </a:r>
            <a:r>
              <a:rPr b="1" lang="en" sz="2500"/>
              <a:t> Statement Anatomy</a:t>
            </a:r>
            <a:endParaRPr b="1" sz="25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1" sz="25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 The </a:t>
            </a: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class</a:t>
            </a:r>
            <a:r>
              <a:rPr lang="en" sz="1600">
                <a:solidFill>
                  <a:schemeClr val="dk1"/>
                </a:solidFill>
              </a:rPr>
              <a:t> statement defines structure, behavior, and identity of objects.</a:t>
            </a:r>
            <a:endParaRPr b="1"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class</a:t>
            </a:r>
            <a:r>
              <a:rPr lang="en" sz="1600">
                <a:solidFill>
                  <a:schemeClr val="dk1"/>
                </a:solidFill>
              </a:rPr>
              <a:t> creates a new type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Class body executes immediately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Methods are functions inside a class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self</a:t>
            </a:r>
            <a:r>
              <a:rPr lang="en" sz="1600">
                <a:solidFill>
                  <a:schemeClr val="dk1"/>
                </a:solidFill>
              </a:rPr>
              <a:t> refers to the instance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Attributes belong to instance or class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0" lvl="0" marL="381000" marR="3810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381000" marR="3810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chemeClr val="dk1"/>
                </a:solidFill>
              </a:rPr>
              <a:t>Slide 5 —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chemeClr val="dk1"/>
                </a:solidFill>
              </a:rPr>
              <a:t>Suggested 2-Hour Teaching Flow</a:t>
            </a:r>
            <a:endParaRPr b="1"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" sz="1600">
                <a:solidFill>
                  <a:schemeClr val="dk1"/>
                </a:solidFill>
              </a:rPr>
              <a:t>25 min</a:t>
            </a:r>
            <a:r>
              <a:rPr lang="en" sz="1600">
                <a:solidFill>
                  <a:schemeClr val="dk1"/>
                </a:solidFill>
              </a:rPr>
              <a:t> — Class Anatomy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" sz="1600">
                <a:solidFill>
                  <a:schemeClr val="dk1"/>
                </a:solidFill>
              </a:rPr>
              <a:t>25 min</a:t>
            </a:r>
            <a:r>
              <a:rPr lang="en" sz="1600">
                <a:solidFill>
                  <a:schemeClr val="dk1"/>
                </a:solidFill>
              </a:rPr>
              <a:t> — </a:t>
            </a: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super()</a:t>
            </a:r>
            <a:r>
              <a:rPr lang="en" sz="1600">
                <a:solidFill>
                  <a:schemeClr val="dk1"/>
                </a:solidFill>
              </a:rPr>
              <a:t> and inheritance internals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" sz="1600">
                <a:solidFill>
                  <a:schemeClr val="dk1"/>
                </a:solidFill>
              </a:rPr>
              <a:t>30 min</a:t>
            </a:r>
            <a:r>
              <a:rPr lang="en" sz="1600">
                <a:solidFill>
                  <a:schemeClr val="dk1"/>
                </a:solidFill>
              </a:rPr>
              <a:t> — Abstract Base Classes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" sz="1600">
                <a:solidFill>
                  <a:schemeClr val="dk1"/>
                </a:solidFill>
              </a:rPr>
              <a:t>20 min</a:t>
            </a:r>
            <a:r>
              <a:rPr lang="en" sz="1600">
                <a:solidFill>
                  <a:schemeClr val="dk1"/>
                </a:solidFill>
              </a:rPr>
              <a:t> — Namespaces &amp; LEGB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" sz="1600">
                <a:solidFill>
                  <a:schemeClr val="dk1"/>
                </a:solidFill>
              </a:rPr>
              <a:t>20 min</a:t>
            </a:r>
            <a:r>
              <a:rPr lang="en" sz="1600">
                <a:solidFill>
                  <a:schemeClr val="dk1"/>
                </a:solidFill>
              </a:rPr>
              <a:t> — Docstrings &amp; documentation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" sz="1600">
                <a:solidFill>
                  <a:schemeClr val="dk1"/>
                </a:solidFill>
              </a:rPr>
              <a:t>10 min</a:t>
            </a:r>
            <a:r>
              <a:rPr lang="en" sz="1600">
                <a:solidFill>
                  <a:schemeClr val="dk1"/>
                </a:solidFill>
              </a:rPr>
              <a:t> — Review + Q&amp;A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chemeClr val="dk1"/>
                </a:solidFill>
              </a:rPr>
              <a:t>Session 4 Key Takeaways</a:t>
            </a:r>
            <a:endParaRPr b="1"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Classes are executable blocks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super()</a:t>
            </a:r>
            <a:r>
              <a:rPr lang="en" sz="1600">
                <a:solidFill>
                  <a:schemeClr val="dk1"/>
                </a:solidFill>
              </a:rPr>
              <a:t> enables safe extension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ABCs enforce design contracts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LEGB controls name resolution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Docstrings are first-class documentation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/>
          </a:p>
        </p:txBody>
      </p:sp>
      <p:pic>
        <p:nvPicPr>
          <p:cNvPr id="64" name="Google Shape;6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89950" y="1653325"/>
            <a:ext cx="4196325" cy="2797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500"/>
              <a:t>Example Python Code</a:t>
            </a:r>
            <a:endParaRPr b="1" sz="2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500"/>
          </a:p>
        </p:txBody>
      </p:sp>
      <p:sp>
        <p:nvSpPr>
          <p:cNvPr id="70" name="Google Shape;70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class User:</a:t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role = "guest"   # class attribute</a:t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t/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def __init__(self, name):</a:t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    self.name = name  # instance attribute</a:t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t/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def greet(self):</a:t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    return f"Hello {self.name}"</a:t>
            </a:r>
            <a:endParaRPr b="1" sz="1600">
              <a:solidFill>
                <a:schemeClr val="dk1"/>
              </a:solidFill>
            </a:endParaRPr>
          </a:p>
          <a:p>
            <a:pPr indent="0" lvl="0" marL="381000" marR="38100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super()</a:t>
            </a:r>
            <a:r>
              <a:rPr b="1" lang="en" sz="2500"/>
              <a:t> Usage</a:t>
            </a:r>
            <a:endParaRPr sz="2500"/>
          </a:p>
        </p:txBody>
      </p:sp>
      <p:sp>
        <p:nvSpPr>
          <p:cNvPr id="76" name="Google Shape;76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super()</a:t>
            </a:r>
            <a:r>
              <a:rPr lang="en" sz="1600">
                <a:solidFill>
                  <a:schemeClr val="dk1"/>
                </a:solidFill>
              </a:rPr>
              <a:t> lets a subclass reuse and extend parent class behavior.</a:t>
            </a:r>
            <a:endParaRPr b="1"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Calls parent class methods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Avoids code duplication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Essential in inheritance chains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Supports cooperative multiple inheritance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Improves maintainability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0" lvl="0" marL="381000" marR="3810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381000" marR="38100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Google Shape;8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4375" y="0"/>
            <a:ext cx="7715251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Example Python code</a:t>
            </a:r>
            <a:endParaRPr b="1"/>
          </a:p>
        </p:txBody>
      </p:sp>
      <p:sp>
        <p:nvSpPr>
          <p:cNvPr id="87" name="Google Shape;87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class Person:</a:t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def __init__(self, name):</a:t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    self.name = name</a:t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class Employee(Person):</a:t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def __init__(self, name, emp_id):</a:t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    super().__init__(name)</a:t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    self.emp_id = emp_id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500"/>
              <a:t>Abstract Base Classes (ABC)</a:t>
            </a:r>
            <a:endParaRPr sz="2500"/>
          </a:p>
        </p:txBody>
      </p:sp>
      <p:sp>
        <p:nvSpPr>
          <p:cNvPr id="93" name="Google Shape;93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Abstract Base Classes define required methods without implementations.</a:t>
            </a:r>
            <a:endParaRPr b="1"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Enforce method contracts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Prevent incomplete implementations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Defined using </a:t>
            </a: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abc</a:t>
            </a:r>
            <a:r>
              <a:rPr lang="en" sz="1600">
                <a:solidFill>
                  <a:schemeClr val="dk1"/>
                </a:solidFill>
              </a:rPr>
              <a:t> module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Abstract methods must be overridden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Useful for frameworks and APIs</a:t>
            </a:r>
            <a:br>
              <a:rPr lang="en" sz="1600">
                <a:solidFill>
                  <a:schemeClr val="dk1"/>
                </a:solidFill>
              </a:rPr>
            </a:b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/>
          </a:p>
        </p:txBody>
      </p:sp>
      <p:pic>
        <p:nvPicPr>
          <p:cNvPr id="94" name="Google Shape;9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53050" y="1671475"/>
            <a:ext cx="3066775" cy="3066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500"/>
              <a:t>Example Python Code</a:t>
            </a:r>
            <a:endParaRPr b="1" sz="2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500"/>
          </a:p>
        </p:txBody>
      </p:sp>
      <p:sp>
        <p:nvSpPr>
          <p:cNvPr id="100" name="Google Shape;100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5"/>
              <a:buFont typeface="Arial"/>
              <a:buNone/>
            </a:pPr>
            <a:r>
              <a:rPr lang="en" sz="118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from abc import ABC, abstractmethod</a:t>
            </a:r>
            <a:endParaRPr sz="118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605"/>
              <a:buFont typeface="Arial"/>
              <a:buNone/>
            </a:pPr>
            <a:r>
              <a:t/>
            </a:r>
            <a:endParaRPr sz="118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605"/>
              <a:buFont typeface="Arial"/>
              <a:buNone/>
            </a:pPr>
            <a:r>
              <a:rPr lang="en" sz="118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class Payment(ABC):</a:t>
            </a:r>
            <a:endParaRPr sz="118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605"/>
              <a:buFont typeface="Arial"/>
              <a:buNone/>
            </a:pPr>
            <a:r>
              <a:rPr lang="en" sz="118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@abstractmethod</a:t>
            </a:r>
            <a:endParaRPr sz="118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605"/>
              <a:buFont typeface="Arial"/>
              <a:buNone/>
            </a:pPr>
            <a:r>
              <a:rPr lang="en" sz="118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def pay(self, amount):</a:t>
            </a:r>
            <a:endParaRPr sz="118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605"/>
              <a:buFont typeface="Arial"/>
              <a:buNone/>
            </a:pPr>
            <a:r>
              <a:rPr lang="en" sz="118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    pass</a:t>
            </a:r>
            <a:endParaRPr sz="118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605"/>
              <a:buFont typeface="Arial"/>
              <a:buNone/>
            </a:pPr>
            <a:r>
              <a:t/>
            </a:r>
            <a:endParaRPr sz="118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605"/>
              <a:buFont typeface="Arial"/>
              <a:buNone/>
            </a:pPr>
            <a:r>
              <a:rPr lang="en" sz="118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class CardPayment(Payment):</a:t>
            </a:r>
            <a:endParaRPr sz="118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605"/>
              <a:buFont typeface="Arial"/>
              <a:buNone/>
            </a:pPr>
            <a:r>
              <a:rPr lang="en" sz="118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def pay(self, amount):</a:t>
            </a:r>
            <a:endParaRPr sz="118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605"/>
              <a:buFont typeface="Arial"/>
              <a:buNone/>
            </a:pPr>
            <a:r>
              <a:rPr lang="en" sz="118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    print(f"Paying {amount} by card")</a:t>
            </a:r>
            <a:endParaRPr sz="118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605"/>
              <a:buFont typeface="Arial"/>
              <a:buNone/>
            </a:pPr>
            <a:r>
              <a:t/>
            </a:r>
            <a:endParaRPr sz="118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  <a:buSzPts val="605"/>
              <a:buNone/>
            </a:pPr>
            <a:r>
              <a:t/>
            </a:r>
            <a:endParaRPr sz="129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500"/>
              <a:t>Docstrings &amp; Documentation</a:t>
            </a:r>
            <a:endParaRPr b="1" sz="25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1" sz="2500"/>
          </a:p>
        </p:txBody>
      </p:sp>
      <p:sp>
        <p:nvSpPr>
          <p:cNvPr id="106" name="Google Shape;106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Docstrings make your classes self-documenting.</a:t>
            </a:r>
            <a:endParaRPr b="1"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Describe purpose and behavior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Accessible via </a:t>
            </a: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help()</a:t>
            </a:r>
            <a:r>
              <a:rPr lang="en" sz="1600">
                <a:solidFill>
                  <a:schemeClr val="dk1"/>
                </a:solidFill>
              </a:rPr>
              <a:t> and </a:t>
            </a: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__doc__</a:t>
            </a:r>
            <a:b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Used by documentation tools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Improve readability and maintenance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Essential for shared codebases</a:t>
            </a:r>
            <a:br>
              <a:rPr lang="en" sz="1600">
                <a:solidFill>
                  <a:schemeClr val="dk1"/>
                </a:solidFill>
              </a:rPr>
            </a:br>
            <a:endParaRPr b="1" sz="1600">
              <a:solidFill>
                <a:schemeClr val="dk1"/>
              </a:solidFill>
            </a:endParaRPr>
          </a:p>
          <a:p>
            <a:pPr indent="0" lvl="0" marL="381000" marR="38100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4375" y="0"/>
            <a:ext cx="7715251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500"/>
              <a:t>Example Python Code</a:t>
            </a:r>
            <a:endParaRPr sz="2500"/>
          </a:p>
        </p:txBody>
      </p:sp>
      <p:sp>
        <p:nvSpPr>
          <p:cNvPr id="117" name="Google Shape;117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class Calculator:</a:t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"""Performs basic arithmetic operations."""</a:t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def add(self, a, b):</a:t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    """Return the sum of two numbers."""</a:t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    return a + b</a:t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help(Calculator)</a:t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500"/>
              <a:t>Namespaces &amp; LEGB Rule</a:t>
            </a:r>
            <a:endParaRPr b="1" sz="25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1" sz="2500"/>
          </a:p>
        </p:txBody>
      </p:sp>
      <p:sp>
        <p:nvSpPr>
          <p:cNvPr id="123" name="Google Shape;123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 Python resolves names using the LEGB lookup rule.</a:t>
            </a:r>
            <a:endParaRPr b="1"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Local → Enclosing → Global → Built-in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Classes introduce their own namespace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Methods use instance namespace first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Avoid name shadowing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Critical for debugging scope issues</a:t>
            </a:r>
            <a:br>
              <a:rPr lang="en" sz="1600">
                <a:solidFill>
                  <a:schemeClr val="dk1"/>
                </a:solidFill>
              </a:rPr>
            </a:br>
            <a:endParaRPr/>
          </a:p>
        </p:txBody>
      </p:sp>
      <p:pic>
        <p:nvPicPr>
          <p:cNvPr id="124" name="Google Shape;124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99478" y="1598500"/>
            <a:ext cx="2697300" cy="2697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500"/>
              <a:t>Example Python Code</a:t>
            </a:r>
            <a:endParaRPr sz="2500"/>
          </a:p>
        </p:txBody>
      </p:sp>
      <p:sp>
        <p:nvSpPr>
          <p:cNvPr id="130" name="Google Shape;130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5"/>
              <a:buFont typeface="Arial"/>
              <a:buNone/>
            </a:pPr>
            <a:r>
              <a:rPr lang="en" sz="118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x = "global"</a:t>
            </a:r>
            <a:endParaRPr sz="118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605"/>
              <a:buFont typeface="Arial"/>
              <a:buNone/>
            </a:pPr>
            <a:r>
              <a:t/>
            </a:r>
            <a:endParaRPr sz="118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605"/>
              <a:buFont typeface="Arial"/>
              <a:buNone/>
            </a:pPr>
            <a:r>
              <a:rPr lang="en" sz="118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class Demo:</a:t>
            </a:r>
            <a:endParaRPr sz="118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605"/>
              <a:buFont typeface="Arial"/>
              <a:buNone/>
            </a:pPr>
            <a:r>
              <a:rPr lang="en" sz="118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x = "class"</a:t>
            </a:r>
            <a:endParaRPr sz="118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605"/>
              <a:buFont typeface="Arial"/>
              <a:buNone/>
            </a:pPr>
            <a:r>
              <a:t/>
            </a:r>
            <a:endParaRPr sz="118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605"/>
              <a:buFont typeface="Arial"/>
              <a:buNone/>
            </a:pPr>
            <a:r>
              <a:rPr lang="en" sz="118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def show(self):</a:t>
            </a:r>
            <a:endParaRPr sz="118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605"/>
              <a:buFont typeface="Arial"/>
              <a:buNone/>
            </a:pPr>
            <a:r>
              <a:rPr lang="en" sz="118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    x = "local"</a:t>
            </a:r>
            <a:endParaRPr sz="118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605"/>
              <a:buFont typeface="Arial"/>
              <a:buNone/>
            </a:pPr>
            <a:r>
              <a:rPr lang="en" sz="118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    print(x)</a:t>
            </a:r>
            <a:endParaRPr sz="118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605"/>
              <a:buFont typeface="Arial"/>
              <a:buNone/>
            </a:pPr>
            <a:r>
              <a:t/>
            </a:r>
            <a:endParaRPr sz="118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605"/>
              <a:buFont typeface="Arial"/>
              <a:buNone/>
            </a:pPr>
            <a:r>
              <a:rPr lang="en" sz="118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 = Demo()</a:t>
            </a:r>
            <a:endParaRPr sz="118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605"/>
              <a:buFont typeface="Arial"/>
              <a:buNone/>
            </a:pPr>
            <a:r>
              <a:rPr lang="en" sz="118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d.show()</a:t>
            </a:r>
            <a:endParaRPr sz="129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