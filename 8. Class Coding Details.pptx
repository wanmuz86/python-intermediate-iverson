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.fntdata"/><Relationship Id="rId11" Type="http://schemas.openxmlformats.org/officeDocument/2006/relationships/slide" Target="slides/slide6.xml"/><Relationship Id="rId22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d876f45bf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bd876f45bf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d876f45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d876f45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Emphasize that the class body runs at definition time.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Clarify difference between class attributes and instance attributes.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Reinforce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self</a:t>
            </a:r>
            <a:r>
              <a:rPr lang="en" sz="1600">
                <a:solidFill>
                  <a:schemeClr val="dk1"/>
                </a:solidFill>
              </a:rPr>
              <a:t> is explicit in Python by design.</a:t>
            </a:r>
            <a:endParaRPr sz="1600"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d876f45bf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d876f45bf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d876f45bf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d876f45b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Explain why calling parent initializers is critical.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Mention that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super()</a:t>
            </a:r>
            <a:r>
              <a:rPr lang="en" sz="1600">
                <a:solidFill>
                  <a:schemeClr val="dk1"/>
                </a:solidFill>
              </a:rPr>
              <a:t> follows MRO, not just “parent”.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Avoid manually calling parent class names.</a:t>
            </a:r>
            <a:endParaRPr sz="1600">
              <a:solidFill>
                <a:srgbClr val="5959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d876f45bf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d876f45bf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d876f45bf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d876f45bf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d876f45b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d876f45b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Explain “contract before implementation”.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Show what happens if abstract methods aren’t implemented.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Relate to real-world interfaces (payment, storage, logging).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5959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d876f45bf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bd876f45bf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bd876f45bf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bd876f45b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Emphasize docstrings are not comments.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Show how tools extract documentation automatically.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Encourage writing docstrings from day one.</a:t>
            </a:r>
            <a:endParaRPr sz="1600">
              <a:solidFill>
                <a:srgbClr val="5959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bd876f45bf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bd876f45bf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d876f45b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d876f45b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d876f45bf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bd876f45bf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Walk through the lookup order step by step.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Explain common bugs caused by shadowing variables.</a:t>
            </a:r>
            <a:br>
              <a:rPr lang="en" sz="1600">
                <a:solidFill>
                  <a:schemeClr val="dk1"/>
                </a:solidFill>
              </a:rPr>
            </a:br>
            <a:r>
              <a:rPr lang="en" sz="1600">
                <a:solidFill>
                  <a:schemeClr val="dk1"/>
                </a:solidFill>
              </a:rPr>
              <a:t> Connect LEGB to attribute lookup learned earlier.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5959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d876f45bf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bd876f45bf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Intermediate Python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Coding Details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99100" y="253734"/>
            <a:ext cx="1854751" cy="45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2138" y="3626725"/>
            <a:ext cx="1419725" cy="141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</a:t>
            </a:r>
            <a:r>
              <a:rPr b="1" lang="en" sz="2500"/>
              <a:t> Statement Anatomy</a:t>
            </a:r>
            <a:endParaRPr b="1" sz="25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 The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</a:t>
            </a:r>
            <a:r>
              <a:rPr lang="en" sz="1600">
                <a:solidFill>
                  <a:schemeClr val="dk1"/>
                </a:solidFill>
              </a:rPr>
              <a:t> statement defines structure, behavior, and identity of objects.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</a:t>
            </a:r>
            <a:r>
              <a:rPr lang="en" sz="1600">
                <a:solidFill>
                  <a:schemeClr val="dk1"/>
                </a:solidFill>
              </a:rPr>
              <a:t> creates a new type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Class body executes immediately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Methods are functions inside a class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self</a:t>
            </a:r>
            <a:r>
              <a:rPr lang="en" sz="1600">
                <a:solidFill>
                  <a:schemeClr val="dk1"/>
                </a:solidFill>
              </a:rPr>
              <a:t> refers to the instance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Attributes belong to instance or class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Slide 5 —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Suggested 2-Hour Teaching Flow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25 min</a:t>
            </a:r>
            <a:r>
              <a:rPr lang="en" sz="1600">
                <a:solidFill>
                  <a:schemeClr val="dk1"/>
                </a:solidFill>
              </a:rPr>
              <a:t> — Class Anatomy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25 min</a:t>
            </a:r>
            <a:r>
              <a:rPr lang="en" sz="1600">
                <a:solidFill>
                  <a:schemeClr val="dk1"/>
                </a:solidFill>
              </a:rPr>
              <a:t> —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super()</a:t>
            </a:r>
            <a:r>
              <a:rPr lang="en" sz="1600">
                <a:solidFill>
                  <a:schemeClr val="dk1"/>
                </a:solidFill>
              </a:rPr>
              <a:t> and inheritance internals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30 min</a:t>
            </a:r>
            <a:r>
              <a:rPr lang="en" sz="1600">
                <a:solidFill>
                  <a:schemeClr val="dk1"/>
                </a:solidFill>
              </a:rPr>
              <a:t> — Abstract Base Classes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20 min</a:t>
            </a:r>
            <a:r>
              <a:rPr lang="en" sz="1600">
                <a:solidFill>
                  <a:schemeClr val="dk1"/>
                </a:solidFill>
              </a:rPr>
              <a:t> — Namespaces &amp; LEGB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20 min</a:t>
            </a:r>
            <a:r>
              <a:rPr lang="en" sz="1600">
                <a:solidFill>
                  <a:schemeClr val="dk1"/>
                </a:solidFill>
              </a:rPr>
              <a:t> — Docstrings &amp; documentation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600">
                <a:solidFill>
                  <a:schemeClr val="dk1"/>
                </a:solidFill>
              </a:rPr>
              <a:t>10 min</a:t>
            </a:r>
            <a:r>
              <a:rPr lang="en" sz="1600">
                <a:solidFill>
                  <a:schemeClr val="dk1"/>
                </a:solidFill>
              </a:rPr>
              <a:t> — Review + Q&amp;A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Session 4 Key Takeaways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Classes are executable blocks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super()</a:t>
            </a:r>
            <a:r>
              <a:rPr lang="en" sz="1600">
                <a:solidFill>
                  <a:schemeClr val="dk1"/>
                </a:solidFill>
              </a:rPr>
              <a:t> enables safe extension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ABCs enforce design contracts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LEGB controls name resolution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Docstrings are first-class documentation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9950" y="1653325"/>
            <a:ext cx="4196325" cy="279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Example Python Code</a:t>
            </a:r>
            <a:endParaRPr b="1" sz="2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User: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role = "guest"   # class attribute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__init__(self, name):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self.name = name  # instance attribute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greet(self):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return f"Hello {self.name}"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Image Prompt</a:t>
            </a: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Python class structure diagram highlighting class name, attributes, methods, and instance relationship, clean educational illustration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b="1" lang="en" sz="1600">
                <a:solidFill>
                  <a:schemeClr val="dk1"/>
                </a:solidFill>
              </a:rPr>
              <a:t>Speaker Notes</a:t>
            </a: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super()</a:t>
            </a:r>
            <a:r>
              <a:rPr b="1" lang="en" sz="2500"/>
              <a:t> Usage</a:t>
            </a:r>
            <a:endParaRPr sz="2500"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super()</a:t>
            </a:r>
            <a:r>
              <a:rPr lang="en" sz="1600">
                <a:solidFill>
                  <a:schemeClr val="dk1"/>
                </a:solidFill>
              </a:rPr>
              <a:t> lets a subclass reuse and extend parent class behavior.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Calls parent class methods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Avoids code duplication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Essential in inheritance chains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Supports cooperative multiple inheritance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Improves maintainability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375" y="0"/>
            <a:ext cx="771525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Example Python code</a:t>
            </a:r>
            <a:endParaRPr b="1"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Person: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__init__(self, name):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self.name = name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Employee(Person):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__init__(self, name, emp_id):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super().__init__(name)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self.emp_id = emp_id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Abstract Base Classes (ABC)</a:t>
            </a:r>
            <a:endParaRPr sz="2500"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Abstract Base Classes define required methods without implementations.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Enforce method contracts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Prevent incomplete implementations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Defined using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abc</a:t>
            </a:r>
            <a:r>
              <a:rPr lang="en" sz="1600">
                <a:solidFill>
                  <a:schemeClr val="dk1"/>
                </a:solidFill>
              </a:rPr>
              <a:t> module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Abstract methods must be overridden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Useful for frameworks and APIs</a:t>
            </a:r>
            <a:br>
              <a:rPr lang="en" sz="1600">
                <a:solidFill>
                  <a:schemeClr val="dk1"/>
                </a:solidFill>
              </a:rPr>
            </a:b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050" y="1671475"/>
            <a:ext cx="3066775" cy="306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Example Python Code</a:t>
            </a:r>
            <a:endParaRPr b="1" sz="2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from abc import ABC, abstractmethod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Payment(ABC):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@abstractmethod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pay(self, amount):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pass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CardPayment(Payment):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pay(self, amount):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print(f"Paying {amount} by card")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SzPts val="605"/>
              <a:buNone/>
            </a:pPr>
            <a:r>
              <a:t/>
            </a:r>
            <a:endParaRPr sz="129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Docstrings &amp; Documentation</a:t>
            </a:r>
            <a:endParaRPr b="1" sz="25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</p:txBody>
      </p:sp>
      <p:sp>
        <p:nvSpPr>
          <p:cNvPr id="106" name="Google Shape;10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Docstrings make your classes self-documenting.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Describe purpose and behavior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Accessible via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help()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__doc__</a:t>
            </a:r>
            <a:b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Used by documentation tools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Improve readability and maintenance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Essential for shared codebases</a:t>
            </a:r>
            <a:br>
              <a:rPr lang="en" sz="1600">
                <a:solidFill>
                  <a:schemeClr val="dk1"/>
                </a:solidFill>
              </a:rPr>
            </a:b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375" y="0"/>
            <a:ext cx="771525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Example Python Code</a:t>
            </a:r>
            <a:endParaRPr sz="2500"/>
          </a:p>
        </p:txBody>
      </p:sp>
      <p:sp>
        <p:nvSpPr>
          <p:cNvPr id="117" name="Google Shape;117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Calculator: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"""Performs basic arithmetic operations."""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add(self, a, b):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"""Return the sum of two numbers."""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return a + b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help(Calculator)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Namespaces &amp; LEGB Rule</a:t>
            </a:r>
            <a:endParaRPr b="1" sz="25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</p:txBody>
      </p:sp>
      <p:sp>
        <p:nvSpPr>
          <p:cNvPr id="123" name="Google Shape;123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</a:rPr>
              <a:t> Python resolves names using the LEGB lookup rule.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Local → Enclosing → Global → Built-in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Classes introduce their own namespace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Methods use instance namespace first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Avoid name shadowing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Critical for debugging scope issues</a:t>
            </a:r>
            <a:br>
              <a:rPr lang="en" sz="1600">
                <a:solidFill>
                  <a:schemeClr val="dk1"/>
                </a:solidFill>
              </a:rPr>
            </a:br>
            <a:endParaRPr/>
          </a:p>
        </p:txBody>
      </p:sp>
      <p:pic>
        <p:nvPicPr>
          <p:cNvPr id="124" name="Google Shape;12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9478" y="1598500"/>
            <a:ext cx="2697300" cy="26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500"/>
              <a:t>Example Python Code</a:t>
            </a:r>
            <a:endParaRPr sz="2500"/>
          </a:p>
        </p:txBody>
      </p:sp>
      <p:sp>
        <p:nvSpPr>
          <p:cNvPr id="130" name="Google Shape;130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x = "global"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 Demo: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x = "class"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def show(self):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x = "local"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    print(x)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 = Demo()</a:t>
            </a:r>
            <a:endParaRPr sz="118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n" sz="118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d.show()</a:t>
            </a:r>
            <a:endParaRPr sz="129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