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8b0f68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8b0f6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8b0f6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8b0f6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This session moves students from in-memory thinking to persistent systems.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Emphasize that </a:t>
            </a:r>
            <a:r>
              <a:rPr i="1" lang="en" sz="1600">
                <a:solidFill>
                  <a:schemeClr val="dk1"/>
                </a:solidFill>
              </a:rPr>
              <a:t>data lifetime</a:t>
            </a:r>
            <a:r>
              <a:rPr lang="en" sz="1600">
                <a:solidFill>
                  <a:schemeClr val="dk1"/>
                </a:solidFill>
              </a:rPr>
              <a:t> is a core design concern.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c8b0f6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c8b0f6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Stress the importance of closing files properly and why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600">
                <a:solidFill>
                  <a:schemeClr val="dk1"/>
                </a:solidFill>
              </a:rPr>
              <a:t> exists conceptually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(no code shown here).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dc8b0f6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dc8b0f6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Highlight evolution: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" sz="1600">
                <a:solidFill>
                  <a:schemeClr val="dk1"/>
                </a:solidFill>
              </a:rPr>
              <a:t> →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lang="en" sz="1600">
                <a:solidFill>
                  <a:schemeClr val="dk1"/>
                </a:solidFill>
              </a:rPr>
              <a:t> →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pathlib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Explain </a:t>
            </a:r>
            <a:r>
              <a:rPr i="1" lang="en" sz="1600">
                <a:solidFill>
                  <a:schemeClr val="dk1"/>
                </a:solidFill>
              </a:rPr>
              <a:t>why abstractions matter</a:t>
            </a:r>
            <a:r>
              <a:rPr lang="en" sz="1600">
                <a:solidFill>
                  <a:schemeClr val="dk1"/>
                </a:solidFill>
              </a:rPr>
              <a:t> more than memorizing APIs.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dc8b0f6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dc8b0f6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Reinforce that JSON is for </a:t>
            </a:r>
            <a:r>
              <a:rPr b="1" lang="en" sz="1600">
                <a:solidFill>
                  <a:schemeClr val="dk1"/>
                </a:solidFill>
              </a:rPr>
              <a:t>data</a:t>
            </a:r>
            <a:r>
              <a:rPr lang="en" sz="1600">
                <a:solidFill>
                  <a:schemeClr val="dk1"/>
                </a:solidFill>
              </a:rPr>
              <a:t>, not </a:t>
            </a:r>
            <a:r>
              <a:rPr b="1" lang="en" sz="1600">
                <a:solidFill>
                  <a:schemeClr val="dk1"/>
                </a:solidFill>
              </a:rPr>
              <a:t>behavior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Great place to discuss validation and schema awareness.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c8b0f6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c8b0f6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This is a critical security teaching moment.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Make it clear: </a:t>
            </a:r>
            <a:r>
              <a:rPr i="1" lang="en" sz="1600">
                <a:solidFill>
                  <a:schemeClr val="dk1"/>
                </a:solidFill>
              </a:rPr>
              <a:t>pickle is convenience, not safety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c8b0f68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dc8b0f68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binary formats trade readability for performance.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Students don’t need mastery—just awareness and caution.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c8b0f6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c8b0f6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Tie everything back to </a:t>
            </a:r>
            <a:r>
              <a:rPr b="1" lang="en" sz="1600">
                <a:solidFill>
                  <a:schemeClr val="dk1"/>
                </a:solidFill>
              </a:rPr>
              <a:t>design intent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Ask: </a:t>
            </a:r>
            <a:r>
              <a:rPr i="1" lang="en" sz="1600">
                <a:solidFill>
                  <a:schemeClr val="dk1"/>
                </a:solidFill>
              </a:rPr>
              <a:t>Who reads this data? For how long? How safely?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c8b0f68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c8b0f6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Prepare students for the next lab where exceptions and logging meet file systems.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Reinforce that </a:t>
            </a:r>
            <a:r>
              <a:rPr i="1" lang="en" sz="1600">
                <a:solidFill>
                  <a:schemeClr val="dk1"/>
                </a:solidFill>
              </a:rPr>
              <a:t>persistent bugs are worse than transient ones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System &amp; Serialization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File System &amp; Serialization Overview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How Python reads, writes, structures, and persists data beyond memory.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Programs lose data when they stop unless persisted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Filesystem APIs let Python interact with the OS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Serialization converts objects into storable formats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Different formats serve different use cases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Choosing the wrong method causes bugs or security risks</a:t>
            </a:r>
            <a:br>
              <a:rPr b="1"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975" y="1554013"/>
            <a:ext cx="2613325" cy="26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File I/O Fundamentals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 foundation of persistence: reading from and writing to files.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Files are streams of text or bytes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Modes control behavior: read, write, append, binary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Context managers ensure safe file handling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Encoding matters for text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Errors occur at OS boundaries (missing files, permissions)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075" y="1439125"/>
            <a:ext cx="2614226" cy="261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OS-Level Tools: os, shutil, pathlib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Python tools for working with files and directories safely.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" sz="1600">
                <a:solidFill>
                  <a:schemeClr val="dk1"/>
                </a:solidFill>
              </a:rPr>
              <a:t> exposes low-level operating system features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lang="en" sz="1600">
                <a:solidFill>
                  <a:schemeClr val="dk1"/>
                </a:solidFill>
              </a:rPr>
              <a:t> handles file copying, moving, deleting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pathlib</a:t>
            </a:r>
            <a:r>
              <a:rPr lang="en" sz="1600">
                <a:solidFill>
                  <a:schemeClr val="dk1"/>
                </a:solidFill>
              </a:rPr>
              <a:t> provides object-oriented path handling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Path portability matters across OSes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pathlib</a:t>
            </a:r>
            <a:r>
              <a:rPr lang="en" sz="1600">
                <a:solidFill>
                  <a:schemeClr val="dk1"/>
                </a:solidFill>
              </a:rPr>
              <a:t> for modern Python design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225" y="1349250"/>
            <a:ext cx="3022851" cy="302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JSON Serialization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Human-readable data exchange between systems.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JSON stores dictionaries, lists, numbers, strings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Language-agnostic and widely supported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configs, APIs, simple persistence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Cannot store functions or custom objects directly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Easy to debug and inspect manually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475" y="1217025"/>
            <a:ext cx="3200525" cy="3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Pickle &amp; Shelve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Python-native object persistence with power and risk.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pickle</a:t>
            </a:r>
            <a:r>
              <a:rPr lang="en" sz="1600">
                <a:solidFill>
                  <a:schemeClr val="dk1"/>
                </a:solidFill>
              </a:rPr>
              <a:t> serializes almost any Python object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shelve</a:t>
            </a:r>
            <a:r>
              <a:rPr lang="en" sz="1600">
                <a:solidFill>
                  <a:schemeClr val="dk1"/>
                </a:solidFill>
              </a:rPr>
              <a:t> provides dictionary-like persistence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Objects restore state exactly as saved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human-readable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Unsafe with untrusted data</a:t>
            </a:r>
            <a:br>
              <a:rPr b="1"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550" y="1255963"/>
            <a:ext cx="3209426" cy="320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Binary Data &amp; struct</a:t>
            </a:r>
            <a:endParaRPr sz="25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Working with raw bytes and memory layouts.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Binary data is compact and fast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" sz="1600">
                <a:solidFill>
                  <a:schemeClr val="dk1"/>
                </a:solidFill>
              </a:rPr>
              <a:t> packs/unpacks bytes into values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in networking, hardware, file formats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Requires strict format agreements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Errors are subtle and hard to debug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200" y="12946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Choosing the Right Tool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Different persistence problems require different solutions.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JSON → configs, APIs, interoperability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Pickle/Shelve → quick Python-only storage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Filesystem tools → organization &amp; automation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Binary → performance-critical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 decisions matter more than syntax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975" y="1536825"/>
            <a:ext cx="3268324" cy="326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Session Wrap-Up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Persistence is a design responsibility, not an afterthought.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Filesystem interaction introduces real-world failure modes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Serialization shapes system boundaries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Safety and maintainability outweigh convenience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provides tools at every abstraction level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Next step: combining persistence with exceptions &amp; logging</a:t>
            </a:r>
            <a:br>
              <a:rPr b="1"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3" name="Google Shape;113;p21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550" y="1519325"/>
            <a:ext cx="2454751" cy="245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