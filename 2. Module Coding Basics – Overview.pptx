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725893b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725893b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Explain that this session moves from </a:t>
            </a:r>
            <a:r>
              <a:rPr i="1" lang="en">
                <a:solidFill>
                  <a:schemeClr val="dk1"/>
                </a:solidFill>
              </a:rPr>
              <a:t>concepts</a:t>
            </a:r>
            <a:r>
              <a:rPr lang="en">
                <a:solidFill>
                  <a:schemeClr val="dk1"/>
                </a:solidFill>
              </a:rPr>
              <a:t> to </a:t>
            </a:r>
            <a:r>
              <a:rPr i="1" lang="en">
                <a:solidFill>
                  <a:schemeClr val="dk1"/>
                </a:solidFill>
              </a:rPr>
              <a:t>hands-on coding</a:t>
            </a:r>
            <a:r>
              <a:rPr lang="en">
                <a:solidFill>
                  <a:schemeClr val="dk1"/>
                </a:solidFill>
              </a:rPr>
              <a:t>. Emphasize that learners will now control how modules are created and imported.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725893b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725893b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Warn students not to name files like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math.py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random.py</a:t>
            </a:r>
            <a:r>
              <a:rPr lang="en">
                <a:solidFill>
                  <a:schemeClr val="dk1"/>
                </a:solidFill>
              </a:rPr>
              <a:t>, as they can override standard library modules.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d725893b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d725893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Set the stage—this slide introduces import styles, the next slides go deep into each one.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d725893b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d725893b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Explain why this style is safest and most readable, especially in large codebases.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d725893b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d725893b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Explain why reload is helpful in interactive shells and why restarting the program is safer in real applications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d725893b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d725893b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Explain side effects of imports and why executable code should be guarded.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725893b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d725893b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d725893b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d725893b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Use the analogy of “rooms” or “containers” to explain namespaces.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725893b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d725893b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d725893b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d725893b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Explain when this style is useful—small scripts or frequently used functions.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725893b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d725893b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Strongly caution students. Explain debugging difficulties and why professionals avoid this style.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d725893b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d725893b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d725893b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d725893b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Reinforce best practices: clear filenames, explicit imports, and avoiding wildcard imports.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Coding Basics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Module Coding Basics – Overview</a:t>
            </a:r>
            <a:endParaRPr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Creating and organizing Python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Different ways to import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How import execution works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Understanding module namespaces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Reloading modules during development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4" name="Google Shape;64;p14"/>
          <p:cNvSpPr txBox="1"/>
          <p:nvPr/>
        </p:nvSpPr>
        <p:spPr>
          <a:xfrm>
            <a:off x="5832300" y="1435525"/>
            <a:ext cx="3000000" cy="70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my_module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Module Creation &amp; Filenames</a:t>
            </a:r>
            <a:endParaRPr sz="25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Each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.py</a:t>
            </a:r>
            <a:r>
              <a:rPr lang="en" sz="1600">
                <a:solidFill>
                  <a:schemeClr val="dk1"/>
                </a:solidFill>
              </a:rPr>
              <a:t> file is a module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Filename becomes module name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be valid Python identifier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name conflicts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Keep names lowercase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sp>
        <p:nvSpPr>
          <p:cNvPr id="71" name="Google Shape;71;p15"/>
          <p:cNvSpPr txBox="1"/>
          <p:nvPr/>
        </p:nvSpPr>
        <p:spPr>
          <a:xfrm>
            <a:off x="4955475" y="1248700"/>
            <a:ext cx="3000000" cy="89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math_utils.py   →  import math_utils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Import Styles – Overview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supports multiple import styles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Each style affects namespace differently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Choice impacts readability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Improper use causes bugs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Follow best practices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8" name="Google Shape;78;p16"/>
          <p:cNvSpPr txBox="1"/>
          <p:nvPr/>
        </p:nvSpPr>
        <p:spPr>
          <a:xfrm>
            <a:off x="5417575" y="1017725"/>
            <a:ext cx="3000000" cy="139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math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math import sqrt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math import *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module</a:t>
            </a:r>
            <a:endParaRPr b="1" sz="2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Imports entire module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Requires module prefix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Clear and explicit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Preferred in most cases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Avoids name collisions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5467150" y="1366800"/>
            <a:ext cx="3000000" cy="209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math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print(math.sqrt(9))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print(math.pi)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Reloading Modules (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importlib.reload</a:t>
            </a:r>
            <a:r>
              <a:rPr b="1" lang="en" sz="2500"/>
              <a:t>)</a:t>
            </a:r>
            <a:endParaRPr sz="2500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Used during development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Reloads modified module code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Requires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importlib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Does not reset all state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 for production use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92" name="Google Shape;92;p18"/>
          <p:cNvSpPr txBox="1"/>
          <p:nvPr/>
        </p:nvSpPr>
        <p:spPr>
          <a:xfrm>
            <a:off x="5197675" y="1270550"/>
            <a:ext cx="3000000" cy="174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my_module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importlib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importlib.reload(my_module)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I</a:t>
            </a:r>
            <a:r>
              <a:rPr b="1" lang="en" sz="2500"/>
              <a:t>mport Execution Rules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Module code runs on first import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Subsequent imports use cache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Execution is top-to-bottom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Global code executes immediately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Controlled with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__name__ == "__main__"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99" name="Google Shape;99;p19"/>
          <p:cNvSpPr txBox="1"/>
          <p:nvPr/>
        </p:nvSpPr>
        <p:spPr>
          <a:xfrm>
            <a:off x="5775150" y="952900"/>
            <a:ext cx="3000000" cy="244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demo.py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print("Module loaded")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main.py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demo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demo</a:t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152400" y="152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0"/>
              </a:spcBef>
              <a:spcAft>
                <a:spcPts val="3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</a:t>
            </a:r>
            <a:r>
              <a:rPr b="1" lang="en" sz="2500"/>
              <a:t>odule Namespaces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Each module has its own namespace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Names do not leak automatically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Accessed using dot notation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name collisions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code clarity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sp>
        <p:nvSpPr>
          <p:cNvPr id="114" name="Google Shape;114;p21"/>
          <p:cNvSpPr txBox="1"/>
          <p:nvPr/>
        </p:nvSpPr>
        <p:spPr>
          <a:xfrm>
            <a:off x="5650050" y="693025"/>
            <a:ext cx="3000000" cy="209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math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random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print(math.pi)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print(random.randint(1, 5))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module import name</a:t>
            </a:r>
            <a:endParaRPr sz="2500"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Imports specific attributes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 module prefix required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Shorter and cleaner syntax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improve readability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Risk of name conflicts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6" name="Google Shape;126;p23"/>
          <p:cNvSpPr txBox="1"/>
          <p:nvPr/>
        </p:nvSpPr>
        <p:spPr>
          <a:xfrm>
            <a:off x="5207275" y="1318675"/>
            <a:ext cx="3000000" cy="174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math import sqrt, pi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print(sqrt(9))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print(pi)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module import *</a:t>
            </a:r>
            <a:endParaRPr b="1"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Imports all public names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Pollutes namespace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Hard to trace origins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Discouraged in production code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interactive sessions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3" name="Google Shape;133;p24"/>
          <p:cNvSpPr txBox="1"/>
          <p:nvPr/>
        </p:nvSpPr>
        <p:spPr>
          <a:xfrm>
            <a:off x="5669275" y="1152475"/>
            <a:ext cx="3000000" cy="139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math import *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print(sqrt(16))</a:t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300" y="2687025"/>
            <a:ext cx="1945951" cy="194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Session Summary – Module Coding Basics</a:t>
            </a:r>
            <a:endParaRPr sz="2500"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Modules are created using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.py</a:t>
            </a:r>
            <a:r>
              <a:rPr lang="en" sz="1600">
                <a:solidFill>
                  <a:schemeClr val="dk1"/>
                </a:solidFill>
              </a:rPr>
              <a:t> files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Multiple import styles exist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Imports execute code once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Namespaces prevent conflicts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Reloading helps during development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6" name="Google Shape;146;p26"/>
          <p:cNvSpPr txBox="1"/>
          <p:nvPr/>
        </p:nvSpPr>
        <p:spPr>
          <a:xfrm>
            <a:off x="5515275" y="1289800"/>
            <a:ext cx="3000000" cy="70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this</a:t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4225" y="2136825"/>
            <a:ext cx="2665300" cy="26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