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722c6ac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722c6a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that this session focuses on </a:t>
            </a:r>
            <a:r>
              <a:rPr i="1" lang="en" sz="1600">
                <a:solidFill>
                  <a:schemeClr val="dk1"/>
                </a:solidFill>
              </a:rPr>
              <a:t>best practices and advanced behaviors</a:t>
            </a:r>
            <a:r>
              <a:rPr lang="en" sz="1600">
                <a:solidFill>
                  <a:schemeClr val="dk1"/>
                </a:solidFill>
              </a:rPr>
              <a:t> rather than basic syntax.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722c6ac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d722c6ac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d722c6a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d722c6a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Emphasize readability and maintainability. Mention that good module design reduces bugs and makes testing easier.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d722c6ac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d722c6ac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that Python relies on conventions, not strict access control. Show how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module import *</a:t>
            </a:r>
            <a:r>
              <a:rPr lang="en" sz="1600">
                <a:solidFill>
                  <a:schemeClr val="dk1"/>
                </a:solidFill>
              </a:rPr>
              <a:t> behaves differently.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d722c6ac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d722c6ac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d722c6ac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d722c6ac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Stress this as a </a:t>
            </a:r>
            <a:r>
              <a:rPr i="1" lang="en" sz="1600">
                <a:solidFill>
                  <a:schemeClr val="dk1"/>
                </a:solidFill>
              </a:rPr>
              <a:t>must-know</a:t>
            </a:r>
            <a:r>
              <a:rPr lang="en" sz="1600">
                <a:solidFill>
                  <a:schemeClr val="dk1"/>
                </a:solidFill>
              </a:rPr>
              <a:t> pattern. Demonstrate by importing the file vs running it directly.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d722c6ac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d722c6ac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d722c6ac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d722c6ac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when aliases are helpful vs when they hurt readability. Mention standard aliases like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pd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d722c6ac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d722c6ac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d722c6ac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d722c6ac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This helps learners understand dynamic imports, reloading, and monkey patching.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d722c6ac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d722c6ac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real-world use cases like plugin systems and optional dependencies.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722c6ac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d722c6ac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d722c6ac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d722c6a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Share real debugging stories. Emphasize prevention through structure and naming.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d722c6ac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d722c6ac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Reinforce habits that scale from small scripts to large systems.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d722c6a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d722c6a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Position this session as the bridge to frameworks, packaging, and professional Python development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66666"/>
                </a:solidFill>
              </a:rPr>
              <a:t>Advanced Module Concepts 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Advanced Module Concepts – Overview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Designing clean, reusable modules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Controlling what modules expose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Managing execution vs import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Using aliases for clarity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Advanced import techniques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Module Design Principles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One responsibility per module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Keep public API small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side effects on import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Write reusable, testable code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Document module behavior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825" y="1017725"/>
            <a:ext cx="3216225" cy="32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Data Hiding (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_X</a:t>
            </a:r>
            <a:r>
              <a:rPr b="1" lang="en" sz="2500"/>
              <a:t>, 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__all__</a:t>
            </a:r>
            <a:r>
              <a:rPr b="1" lang="en" sz="2500"/>
              <a:t>)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_name</a:t>
            </a:r>
            <a:r>
              <a:rPr lang="en" sz="1600">
                <a:solidFill>
                  <a:schemeClr val="dk1"/>
                </a:solidFill>
              </a:rPr>
              <a:t> signals internal use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Not truly private, but a convention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__all__</a:t>
            </a:r>
            <a:r>
              <a:rPr lang="en" sz="1600">
                <a:solidFill>
                  <a:schemeClr val="dk1"/>
                </a:solidFill>
              </a:rPr>
              <a:t> controls wildcard imports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Helps define public API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maintainability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8450" y="1252650"/>
            <a:ext cx="2739400" cy="27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mymodule.py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__all__ = ["public_func"]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public_func():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pass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_internal_func():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pass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__name__ == "__main__"</a:t>
            </a:r>
            <a:endParaRPr b="1"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Distinguishes script vs module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Prevents code running on import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Enables reusable modules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Python pattern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Essential for larger projects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main():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print("Running directly")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__name__ == "__main__":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main()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Alias Usage</a:t>
            </a:r>
            <a:endParaRPr sz="2500"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Shortens long module names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readability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Avoids naming conflicts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in scientific code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Explicit but concise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2650" y="863550"/>
            <a:ext cx="341639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numpy as np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math as m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print(m.sqrt(16))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Modules as Objects</a:t>
            </a:r>
            <a:endParaRPr sz="2500"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Modules are first-class objects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Stored in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sys.modules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Have attributes and state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be passed around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Introspectable at runtime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120" name="Google Shape;120;p23"/>
          <p:cNvSpPr txBox="1"/>
          <p:nvPr/>
        </p:nvSpPr>
        <p:spPr>
          <a:xfrm>
            <a:off x="4802588" y="778200"/>
            <a:ext cx="3000000" cy="1748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math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print(type(math))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print(math.__dict__.keys())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152400" y="152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0"/>
              </a:spcBef>
              <a:spcAft>
                <a:spcPts val="36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375" y="2720575"/>
            <a:ext cx="2530076" cy="253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Dynamic Imports</a:t>
            </a:r>
            <a:endParaRPr sz="2500"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Import modules at runtime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importlib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for plugins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Adds flexibility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Reduces startup cost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300" y="875375"/>
            <a:ext cx="3301624" cy="330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importlib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module = importlib.import_module("math")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print(module.sqrt(25))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Module Gotchas</a:t>
            </a:r>
            <a:endParaRPr sz="2500"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4559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350">
                <a:solidFill>
                  <a:schemeClr val="dk1"/>
                </a:solidFill>
              </a:rPr>
              <a:t>Circular imports</a:t>
            </a:r>
            <a:br>
              <a:rPr lang="en" sz="3350">
                <a:solidFill>
                  <a:schemeClr val="dk1"/>
                </a:solidFill>
              </a:rPr>
            </a:br>
            <a:endParaRPr sz="3350">
              <a:solidFill>
                <a:schemeClr val="dk1"/>
              </a:solidFill>
            </a:endParaRPr>
          </a:p>
          <a:p>
            <a:pPr indent="-3455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350">
                <a:solidFill>
                  <a:schemeClr val="dk1"/>
                </a:solidFill>
              </a:rPr>
              <a:t>Shadowing standard modules</a:t>
            </a:r>
            <a:br>
              <a:rPr lang="en" sz="3350">
                <a:solidFill>
                  <a:schemeClr val="dk1"/>
                </a:solidFill>
              </a:rPr>
            </a:br>
            <a:endParaRPr sz="3350">
              <a:solidFill>
                <a:schemeClr val="dk1"/>
              </a:solidFill>
            </a:endParaRPr>
          </a:p>
          <a:p>
            <a:pPr indent="-3455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350">
                <a:solidFill>
                  <a:schemeClr val="dk1"/>
                </a:solidFill>
              </a:rPr>
              <a:t>Code executing on import</a:t>
            </a:r>
            <a:br>
              <a:rPr lang="en" sz="3350">
                <a:solidFill>
                  <a:schemeClr val="dk1"/>
                </a:solidFill>
              </a:rPr>
            </a:br>
            <a:endParaRPr sz="3350">
              <a:solidFill>
                <a:schemeClr val="dk1"/>
              </a:solidFill>
            </a:endParaRPr>
          </a:p>
          <a:p>
            <a:pPr indent="-3455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350">
                <a:solidFill>
                  <a:schemeClr val="dk1"/>
                </a:solidFill>
              </a:rPr>
              <a:t>Misusing wildcard imports</a:t>
            </a:r>
            <a:br>
              <a:rPr lang="en" sz="3350">
                <a:solidFill>
                  <a:schemeClr val="dk1"/>
                </a:solidFill>
              </a:rPr>
            </a:br>
            <a:endParaRPr sz="3350">
              <a:solidFill>
                <a:schemeClr val="dk1"/>
              </a:solidFill>
            </a:endParaRPr>
          </a:p>
          <a:p>
            <a:pPr indent="-2844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761"/>
              <a:buChar char="●"/>
            </a:pPr>
            <a:r>
              <a:rPr lang="en" sz="3350">
                <a:solidFill>
                  <a:schemeClr val="dk1"/>
                </a:solidFill>
              </a:rPr>
              <a:t>Path-related errors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275" y="778175"/>
            <a:ext cx="3688399" cy="368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Best Practices Summary</a:t>
            </a:r>
            <a:endParaRPr sz="2500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Keep modules small and focused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explicit imports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Protect executable code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Follow naming conventions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Test imports early</a:t>
            </a:r>
            <a:endParaRPr sz="1600"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850" y="803475"/>
            <a:ext cx="4168374" cy="416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Session Wrap-Up</a:t>
            </a:r>
            <a:endParaRPr sz="2500"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Modules define program structure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favors conventions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Advanced imports enable flexibility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Good design prevents bugs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Foundation for packages &amp; apps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