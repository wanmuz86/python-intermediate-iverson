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9f41786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9f41786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9f4178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69f4178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operator overloading is not magic—it’s just method calls.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Emphasize </a:t>
            </a:r>
            <a:r>
              <a:rPr i="1" lang="en" sz="1600">
                <a:solidFill>
                  <a:schemeClr val="dk1"/>
                </a:solidFill>
              </a:rPr>
              <a:t>clarity over cleverness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69f41786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69f41786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9f41786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9f4178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Clarify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1600">
                <a:solidFill>
                  <a:schemeClr val="dk1"/>
                </a:solidFill>
              </a:rPr>
              <a:t> initializes, not creates, the object.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Good initialization prevents downstream bugs.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9f41786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69f41786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9f4178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69f4178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Stress immutability as a good practice.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Mention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n" sz="1600">
                <a:solidFill>
                  <a:schemeClr val="dk1"/>
                </a:solidFill>
              </a:rPr>
              <a:t> behaves differently if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__iadd__</a:t>
            </a:r>
            <a:r>
              <a:rPr lang="en" sz="1600">
                <a:solidFill>
                  <a:schemeClr val="dk1"/>
                </a:solidFill>
              </a:rPr>
              <a:t> exists.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69f41786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69f41786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69f41786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69f41786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9f41786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9f41786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slices are passed as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slice(start, stop, step)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One method handles both indexing and slicing.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69f41786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69f41786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9f41786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69f41786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most classes simply return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iter(self.items)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Manual iterators are for advanced cases.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69f41786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69f41786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69f41786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69f41786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Strongly warn students this is advanced.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Always 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super().__setattr__</a:t>
            </a:r>
            <a:r>
              <a:rPr lang="en" sz="1600">
                <a:solidFill>
                  <a:schemeClr val="dk1"/>
                </a:solidFill>
              </a:rPr>
              <a:t> to avoid recursion.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69f41786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69f41786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9f4178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9f4178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Mention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sorted()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r>
              <a:rPr lang="en" sz="1600">
                <a:solidFill>
                  <a:schemeClr val="dk1"/>
                </a:solidFill>
              </a:rPr>
              <a:t> rely on comparison methods.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Introduce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functools.total_ordering</a:t>
            </a:r>
            <a:r>
              <a:rPr lang="en" sz="1600">
                <a:solidFill>
                  <a:schemeClr val="dk1"/>
                </a:solidFill>
              </a:rPr>
              <a:t> briefly.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9f41786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9f41786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9f4178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69f4178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why empty lists evaluate to False.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Encourage intuitive truth conditions.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69f41786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69f41786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If an operator needs explanation, use a method instead.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69f41786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69f41786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Bridge to next session: advanced class design and patterns.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Reinforce “clarity first” mindset.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Overloading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Operator Overloading: The Big Idea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Operator overloading allows objects to behave like built-in Python types.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Operators map to special “dunder”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readability of object interactions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Makes domain objects intuitive to 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Widely used in Python libraries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follow expected behavior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Object Initialization with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chemeClr val="dk1"/>
                </a:solidFill>
              </a:rPr>
              <a:t> </a:t>
            </a:r>
            <a:r>
              <a:rPr lang="en" sz="25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2550">
                <a:solidFill>
                  <a:schemeClr val="dk1"/>
                </a:solidFill>
              </a:rPr>
              <a:t> defines how an object starts its life.</a:t>
            </a:r>
            <a:endParaRPr b="1" sz="2550">
              <a:solidFill>
                <a:schemeClr val="dk1"/>
              </a:solidFill>
            </a:endParaRPr>
          </a:p>
          <a:p>
            <a:pPr indent="-32980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Automatically called during object creation</a:t>
            </a:r>
            <a:br>
              <a:rPr lang="en" sz="2550">
                <a:solidFill>
                  <a:schemeClr val="dk1"/>
                </a:solidFill>
              </a:rPr>
            </a:br>
            <a:endParaRPr sz="2550">
              <a:solidFill>
                <a:schemeClr val="dk1"/>
              </a:solidFill>
            </a:endParaRPr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Assigns initial attribute values</a:t>
            </a:r>
            <a:br>
              <a:rPr lang="en" sz="2550">
                <a:solidFill>
                  <a:schemeClr val="dk1"/>
                </a:solidFill>
              </a:rPr>
            </a:br>
            <a:endParaRPr sz="2550">
              <a:solidFill>
                <a:schemeClr val="dk1"/>
              </a:solidFill>
            </a:endParaRPr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Can enforce validation rules</a:t>
            </a:r>
            <a:br>
              <a:rPr lang="en" sz="2550">
                <a:solidFill>
                  <a:schemeClr val="dk1"/>
                </a:solidFill>
              </a:rPr>
            </a:br>
            <a:endParaRPr sz="2550">
              <a:solidFill>
                <a:schemeClr val="dk1"/>
              </a:solidFill>
            </a:endParaRPr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Establishes class invariants</a:t>
            </a:r>
            <a:br>
              <a:rPr lang="en" sz="2550">
                <a:solidFill>
                  <a:schemeClr val="dk1"/>
                </a:solidFill>
              </a:rPr>
            </a:br>
            <a:endParaRPr sz="2550">
              <a:solidFill>
                <a:schemeClr val="dk1"/>
              </a:solidFill>
            </a:endParaRPr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Foundation for all other operators</a:t>
            </a:r>
            <a:br>
              <a:rPr lang="en" sz="255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525" y="1288025"/>
            <a:ext cx="2919301" cy="291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Money: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def __init__(self, amount: float, currency: str = "MYR"):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if amount &lt; 0: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raise ValueError("amount must be non-negative")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self.amount = float(amount)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self.currency = currency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Arithmetic Operators: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__add__</a:t>
            </a:r>
            <a:r>
              <a:rPr b="1" lang="en" sz="2500"/>
              <a:t> and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__sub__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Arithmetic operators let objects participate in math-like expressions.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600">
                <a:solidFill>
                  <a:schemeClr val="dk1"/>
                </a:solidFill>
              </a:rPr>
              <a:t> calls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__add__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1600">
                <a:solidFill>
                  <a:schemeClr val="dk1"/>
                </a:solidFill>
              </a:rPr>
              <a:t> calls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__sub__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Should return new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mutating existing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Behavior must be predictable</a:t>
            </a:r>
            <a:br>
              <a:rPr b="1"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725" y="1678100"/>
            <a:ext cx="2959601" cy="29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class Money: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def __init__(self, amount: float, currency: str = "MYR"):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self.amount = float(amount)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self.currency = currency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def __add__(self, other):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if not isinstance(other, Money):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    return NotImplemented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if self.currency != other.currency: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    raise ValueError("currency mismatch")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return Money(self.amount + other.amount, self.currency)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    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 (2)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def __sub__(self, other):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if not isinstance(other, Money):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    return NotImplemented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if self.currency != other.currency: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    raise ValueError("currency mismatch")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return Money(self.amount - other.amount, self.currency)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Indexing &amp; Slicing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__getitem__</a:t>
            </a:r>
            <a:r>
              <a:rPr b="1" lang="en" sz="2500"/>
              <a:t>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Indexing makes objects behave like sequences.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obj[i]</a:t>
            </a:r>
            <a:r>
              <a:rPr lang="en" sz="1600">
                <a:solidFill>
                  <a:schemeClr val="dk1"/>
                </a:solidFill>
              </a:rPr>
              <a:t> triggers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__getitem__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integer indexing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slicing via slice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API usability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containers and datasets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575" y="1396175"/>
            <a:ext cx="3628201" cy="362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class Scores: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def __init__(self, values):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self._values = list(values)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def __getitem__(self, index):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    return self._values[index]  # works for int OR slice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    def __len__(self):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        return len(self._values)</a:t>
            </a:r>
            <a:endParaRPr sz="1100"/>
          </a:p>
        </p:txBody>
      </p:sp>
      <p:sp>
        <p:nvSpPr>
          <p:cNvPr id="114" name="Google Shape;114;p22"/>
          <p:cNvSpPr txBox="1"/>
          <p:nvPr/>
        </p:nvSpPr>
        <p:spPr>
          <a:xfrm>
            <a:off x="5220925" y="1268375"/>
            <a:ext cx="3000000" cy="2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 = Scores([80, 90, 85, 70])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print(s[1])      # 90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print(s[1:3])    # [90, 85]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Iteration Protocol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__iter__</a:t>
            </a:r>
            <a:r>
              <a:rPr b="1" lang="en" sz="2500"/>
              <a:t>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Iteration methods allow objects to work with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600">
                <a:solidFill>
                  <a:schemeClr val="dk1"/>
                </a:solidFill>
              </a:rPr>
              <a:t> loops.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__iter__()</a:t>
            </a:r>
            <a:r>
              <a:rPr lang="en" sz="1600">
                <a:solidFill>
                  <a:schemeClr val="dk1"/>
                </a:solidFill>
              </a:rPr>
              <a:t> returns an iterator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use in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600">
                <a:solidFill>
                  <a:schemeClr val="dk1"/>
                </a:solidFill>
              </a:rPr>
              <a:t> loops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with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list()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sum()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any()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Often delegates to internal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container objects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800" y="1686225"/>
            <a:ext cx="3376499" cy="33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class Bag: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def __init__(self, items):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self._items = list(items)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def __iter__(self):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return iter(self._items)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 = Bag(["pen", "book", "eraser"])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for item in b: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print(item)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Attribute Interception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__getattr__</a:t>
            </a:r>
            <a:r>
              <a:rPr b="1" lang="en" sz="2500"/>
              <a:t>,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__setattr__</a:t>
            </a:r>
            <a:r>
              <a:rPr b="1" lang="en" sz="2500"/>
              <a:t>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Attribute interception customizes how attributes are accessed or assigned.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__getattr__</a:t>
            </a:r>
            <a:r>
              <a:rPr lang="en" sz="1600">
                <a:solidFill>
                  <a:schemeClr val="dk1"/>
                </a:solidFill>
              </a:rPr>
              <a:t> runs when attribute is missing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__setattr__</a:t>
            </a:r>
            <a:r>
              <a:rPr lang="en" sz="1600">
                <a:solidFill>
                  <a:schemeClr val="dk1"/>
                </a:solidFill>
              </a:rPr>
              <a:t> intercepts assignments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proxies and lazy loading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Powerful but risky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easily cause recursion bugs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925" y="1681325"/>
            <a:ext cx="3677376" cy="367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452275" y="1248700"/>
            <a:ext cx="6070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SafeConfig: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self._data = {}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__getattr__(self, 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# only called if normal lookup fails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return self._data.get(name, None)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__setattr__(self, name, value):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if name == "_data":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super().__setattr__(name, value)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self._data[name] =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cfg = SafeConfig()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cfg.theme = "dark"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print(cfg.theme)      # dark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print(cfg.unknown)    # None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Comparison Operators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__eq__</a:t>
            </a:r>
            <a:r>
              <a:rPr b="1" lang="en" sz="2500"/>
              <a:t>,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__lt__</a:t>
            </a:r>
            <a:r>
              <a:rPr b="1" lang="en" sz="2500"/>
              <a:t>, etc.)</a:t>
            </a:r>
            <a:endParaRPr sz="2500"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Comparison operators define how objects are compared and sorted.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600">
                <a:solidFill>
                  <a:schemeClr val="dk1"/>
                </a:solidFill>
              </a:rPr>
              <a:t> uses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__eq__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600">
                <a:solidFill>
                  <a:schemeClr val="dk1"/>
                </a:solidFill>
              </a:rPr>
              <a:t> uses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__lt__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sorting and searching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 logically consistent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Reflects domain meanin</a:t>
            </a:r>
            <a:r>
              <a:rPr lang="en" sz="1600">
                <a:solidFill>
                  <a:schemeClr val="dk1"/>
                </a:solidFill>
              </a:rPr>
              <a:t>g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475" y="17271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Example</a:t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403125" y="1130675"/>
            <a:ext cx="6582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name, score):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self.name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self.score = 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__eq__(self, other):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if not isinstance(other, Student):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return NotImplemented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return self.score == other.score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__lt__(self, other):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if not isinstance(other, Student):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return NotImplemented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return self.score &lt; other.score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= [Student("Aina", 90), Student("Ali", 75)]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print(sorted(students))  # works because __lt__ exists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Boolean Operators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__bool__</a:t>
            </a:r>
            <a:r>
              <a:rPr b="1" lang="en" sz="2500"/>
              <a:t> and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__len__</a:t>
            </a:r>
            <a:r>
              <a:rPr b="1" lang="en" sz="2500"/>
              <a:t>)</a:t>
            </a:r>
            <a:endParaRPr sz="2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Boolean methods control truthiness of objects.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obj:</a:t>
            </a:r>
            <a:r>
              <a:rPr lang="en" sz="1600">
                <a:solidFill>
                  <a:schemeClr val="dk1"/>
                </a:solidFill>
              </a:rPr>
              <a:t> calls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__bool__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Falls back to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__len__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Defines “empty” vs “non-empty”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containers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return True or False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925" y="1248675"/>
            <a:ext cx="3500375" cy="3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Design Rules for Operator Overloading</a:t>
            </a:r>
            <a:endParaRPr sz="2500"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Good operator overloading follows user expectations.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Match built-in Python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surprising side effects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Document overloaded operators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operators sparingly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425" y="1632175"/>
            <a:ext cx="3263401" cy="326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Summary</a:t>
            </a:r>
            <a:endParaRPr sz="2500"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Operator overloading makes objects expressive and Pythonic.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Operators map to dunder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Arithmetic, indexing, iteration are common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Attribute interception is advanced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Comparisons and booleans improve usability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 discipline is essential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