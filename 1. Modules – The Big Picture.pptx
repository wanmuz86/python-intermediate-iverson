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 Mon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RobotoMono-bold.fntdata"/><Relationship Id="rId10" Type="http://schemas.openxmlformats.org/officeDocument/2006/relationships/slide" Target="slides/slide5.xml"/><Relationship Id="rId21" Type="http://schemas.openxmlformats.org/officeDocument/2006/relationships/font" Target="fonts/RobotoMono-regular.fntdata"/><Relationship Id="rId13" Type="http://schemas.openxmlformats.org/officeDocument/2006/relationships/slide" Target="slides/slide8.xml"/><Relationship Id="rId24" Type="http://schemas.openxmlformats.org/officeDocument/2006/relationships/font" Target="fonts/RobotoMono-boldItalic.fntdata"/><Relationship Id="rId12" Type="http://schemas.openxmlformats.org/officeDocument/2006/relationships/slide" Target="slides/slide7.xml"/><Relationship Id="rId23" Type="http://schemas.openxmlformats.org/officeDocument/2006/relationships/font" Target="fonts/RobotoMon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c6707bdc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c6707bdc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Explain how logic is separated into files. Emphasize that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math_utils.py</a:t>
            </a:r>
            <a:r>
              <a:rPr lang="en" sz="1600">
                <a:solidFill>
                  <a:schemeClr val="dk1"/>
                </a:solidFill>
              </a:rPr>
              <a:t> can now be reused in many projects without rewriting code.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6707bdc7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6707bdc7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6707bdc7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c6707bdc7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Explain that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main.py</a:t>
            </a:r>
            <a:r>
              <a:rPr lang="en" sz="1600">
                <a:solidFill>
                  <a:schemeClr val="dk1"/>
                </a:solidFill>
              </a:rPr>
              <a:t> is often the entry point, while logic lives in helper modules. This structure scales well as projects grow.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6707bdc7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c6707bdc7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6707bdc7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c6707bdc7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Clarify that modules are objects.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math.pi</a:t>
            </a:r>
            <a:r>
              <a:rPr lang="en" sz="1600">
                <a:solidFill>
                  <a:schemeClr val="dk1"/>
                </a:solidFill>
              </a:rPr>
              <a:t> and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math.sqrt</a:t>
            </a:r>
            <a:r>
              <a:rPr lang="en" sz="1600">
                <a:solidFill>
                  <a:schemeClr val="dk1"/>
                </a:solidFill>
              </a:rPr>
              <a:t> are attributes inside the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math</a:t>
            </a:r>
            <a:r>
              <a:rPr lang="en" sz="1600">
                <a:solidFill>
                  <a:schemeClr val="dk1"/>
                </a:solidFill>
              </a:rPr>
              <a:t> module.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6707bdc7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6707bdc7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Highlight how much functionality Python gives for free. Mention common modules like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os</a:t>
            </a:r>
            <a:r>
              <a:rPr lang="en" sz="1600">
                <a:solidFill>
                  <a:schemeClr val="dk1"/>
                </a:solidFill>
              </a:rPr>
              <a:t>,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sys</a:t>
            </a:r>
            <a:r>
              <a:rPr lang="en" sz="1600">
                <a:solidFill>
                  <a:schemeClr val="dk1"/>
                </a:solidFill>
              </a:rPr>
              <a:t>,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json</a:t>
            </a:r>
            <a:r>
              <a:rPr lang="en" sz="1600">
                <a:solidFill>
                  <a:schemeClr val="dk1"/>
                </a:solidFill>
              </a:rPr>
              <a:t>,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datetime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6707bdc78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c6707bdc78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6707bdc78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6707bdc7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Explain that the print statement runs only on the first import, proving that Python caches loaded modules.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6707bdc78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c6707bdc78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6707bdc78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c6707bdc7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Stress that developers don’t manually compile Python. This process is invisible but important for understanding performance and imports.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6707bdc78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c6707bdc78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Explain that deleting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__pycache__</a:t>
            </a:r>
            <a:r>
              <a:rPr lang="en" sz="1600">
                <a:solidFill>
                  <a:schemeClr val="dk1"/>
                </a:solidFill>
              </a:rPr>
              <a:t> is safe. Python regenerates it automatically when needed.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6707bdc78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c6707bdc78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Explain how Python decides </a:t>
            </a:r>
            <a:r>
              <a:rPr i="1" lang="en" sz="1600">
                <a:solidFill>
                  <a:schemeClr val="dk1"/>
                </a:solidFill>
              </a:rPr>
              <a:t>where</a:t>
            </a:r>
            <a:r>
              <a:rPr lang="en" sz="1600">
                <a:solidFill>
                  <a:schemeClr val="dk1"/>
                </a:solidFill>
              </a:rPr>
              <a:t> to look for modules and why incorrect paths cause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ModuleNotFoundError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6707bdc78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c6707bdc78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Warn that modifying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sys.path</a:t>
            </a:r>
            <a:r>
              <a:rPr lang="en" sz="1600">
                <a:solidFill>
                  <a:schemeClr val="dk1"/>
                </a:solidFill>
              </a:rPr>
              <a:t> directly is usually a last resort. Recommend virtual environments and clean project layouts.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c6707bdc78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c6707bdc78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Wrap up by reinforcing that understanding modules is essential before moving to packages, virtual environments, and real-world applications.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Intermediate Python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Modules – The Big Picture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9100" y="253734"/>
            <a:ext cx="1854751" cy="45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2138" y="3626725"/>
            <a:ext cx="1419725" cy="141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Why Use Modules?</a:t>
            </a:r>
            <a:endParaRPr sz="2500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Break large programs into manageable pieces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Promote code reuse across projects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Improve readability and organization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Enable team collaboration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Simplify testing and maintenance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6900" y="1101200"/>
            <a:ext cx="3372575" cy="337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/>
              <a:t>Code Example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 math_utils.py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def add(a, b):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return a + b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 main.py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math_utils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print(math_utils.add(2, 3))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Python Program Architecture</a:t>
            </a:r>
            <a:endParaRPr sz="2500"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Programs composed of multiple modules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Each file represents one module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Packages group related modules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Clear separation of responsibilities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Entry point controls execution flow</a:t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2400" y="1152475"/>
            <a:ext cx="3027451" cy="3027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/>
              <a:t>Code Example</a:t>
            </a:r>
            <a:endParaRPr b="1" sz="1600"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project/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│── main.py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│── utils/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│   ├── __init__.py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│   └── helpers.py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 Imports and Attributes</a:t>
            </a:r>
            <a:endParaRPr sz="2500"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module</a:t>
            </a:r>
            <a:r>
              <a:rPr lang="en" sz="1600">
                <a:solidFill>
                  <a:schemeClr val="dk1"/>
                </a:solidFill>
              </a:rPr>
              <a:t> loads a module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module import name</a:t>
            </a:r>
            <a:r>
              <a:rPr lang="en" sz="1600">
                <a:solidFill>
                  <a:schemeClr val="dk1"/>
                </a:solidFill>
              </a:rPr>
              <a:t> imports attributes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Attributes include variables, functions, classes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Dot notation accesses attributes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Imports run module code once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t/>
            </a:r>
            <a:endParaRPr sz="1600"/>
          </a:p>
        </p:txBody>
      </p:sp>
      <p:sp>
        <p:nvSpPr>
          <p:cNvPr id="90" name="Google Shape;90;p18"/>
          <p:cNvSpPr txBox="1"/>
          <p:nvPr/>
        </p:nvSpPr>
        <p:spPr>
          <a:xfrm>
            <a:off x="5329075" y="1248700"/>
            <a:ext cx="3000000" cy="1742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Code Example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math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print(math.pi)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print(math.sqrt(16))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Standard Library Overview</a:t>
            </a:r>
            <a:endParaRPr sz="2500"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Built-in collection of Python modules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No external installation required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Covers files, OS, math, networking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Well-tested and optimized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“Batteries included” philosophy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3725" y="1043275"/>
            <a:ext cx="3056950" cy="305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Code Example</a:t>
            </a:r>
            <a:endParaRPr sz="2500"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datetime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today = datetime.date.today()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print(today)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How Imports Work</a:t>
            </a:r>
            <a:endParaRPr sz="2500"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Python searches for the module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Module code is executed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Module object is created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Names are bound in namespace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Cached for future imports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</p:txBody>
      </p:sp>
      <p:sp>
        <p:nvSpPr>
          <p:cNvPr id="110" name="Google Shape;110;p21"/>
          <p:cNvSpPr txBox="1"/>
          <p:nvPr/>
        </p:nvSpPr>
        <p:spPr>
          <a:xfrm>
            <a:off x="5545400" y="1017725"/>
            <a:ext cx="3000000" cy="2445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Code Example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 demo.py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print("Module is running")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 main.py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demo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demo   # runs only once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0" y="0"/>
            <a:ext cx="51435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Find → Compile → Run</a:t>
            </a:r>
            <a:endParaRPr sz="2500"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Python locates source file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Source compiled to bytecode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Bytecode executed by interpreter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Happens automatically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Improves performance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en" sz="1600">
                <a:solidFill>
                  <a:schemeClr val="dk1"/>
                </a:solidFill>
              </a:rPr>
            </a:br>
            <a:endParaRPr/>
          </a:p>
        </p:txBody>
      </p:sp>
      <p:pic>
        <p:nvPicPr>
          <p:cNvPr id="122" name="Google Shape;12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0100" y="1218638"/>
            <a:ext cx="3284076" cy="3284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Bytecode &amp; </a:t>
            </a:r>
            <a:r>
              <a:rPr b="1" lang="en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__pycache__</a:t>
            </a:r>
            <a:endParaRPr sz="2500"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10000"/>
          </a:bodyPr>
          <a:lstStyle/>
          <a:p>
            <a:pPr indent="-35306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900">
                <a:solidFill>
                  <a:schemeClr val="dk1"/>
                </a:solidFill>
              </a:rPr>
              <a:t>Bytecode stored as </a:t>
            </a:r>
            <a:r>
              <a:rPr lang="en" sz="4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.pyc</a:t>
            </a:r>
            <a:r>
              <a:rPr lang="en" sz="4900">
                <a:solidFill>
                  <a:schemeClr val="dk1"/>
                </a:solidFill>
              </a:rPr>
              <a:t> files</a:t>
            </a:r>
            <a:br>
              <a:rPr lang="en" sz="4900">
                <a:solidFill>
                  <a:schemeClr val="dk1"/>
                </a:solidFill>
              </a:rPr>
            </a:br>
            <a:endParaRPr sz="4900">
              <a:solidFill>
                <a:schemeClr val="dk1"/>
              </a:solidFill>
            </a:endParaRPr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900">
                <a:solidFill>
                  <a:schemeClr val="dk1"/>
                </a:solidFill>
              </a:rPr>
              <a:t>Saved in </a:t>
            </a:r>
            <a:r>
              <a:rPr lang="en" sz="4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__pycache__</a:t>
            </a:r>
            <a:r>
              <a:rPr lang="en" sz="4900">
                <a:solidFill>
                  <a:schemeClr val="dk1"/>
                </a:solidFill>
              </a:rPr>
              <a:t> directory</a:t>
            </a:r>
            <a:br>
              <a:rPr lang="en" sz="4900">
                <a:solidFill>
                  <a:schemeClr val="dk1"/>
                </a:solidFill>
              </a:rPr>
            </a:br>
            <a:endParaRPr sz="4900">
              <a:solidFill>
                <a:schemeClr val="dk1"/>
              </a:solidFill>
            </a:endParaRPr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900">
                <a:solidFill>
                  <a:schemeClr val="dk1"/>
                </a:solidFill>
              </a:rPr>
              <a:t>Version-specific bytecode</a:t>
            </a:r>
            <a:br>
              <a:rPr lang="en" sz="4900">
                <a:solidFill>
                  <a:schemeClr val="dk1"/>
                </a:solidFill>
              </a:rPr>
            </a:br>
            <a:endParaRPr sz="4900">
              <a:solidFill>
                <a:schemeClr val="dk1"/>
              </a:solidFill>
            </a:endParaRPr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900">
                <a:solidFill>
                  <a:schemeClr val="dk1"/>
                </a:solidFill>
              </a:rPr>
              <a:t>Speeds up future runs</a:t>
            </a:r>
            <a:br>
              <a:rPr lang="en" sz="4900">
                <a:solidFill>
                  <a:schemeClr val="dk1"/>
                </a:solidFill>
              </a:rPr>
            </a:br>
            <a:endParaRPr sz="4900">
              <a:solidFill>
                <a:schemeClr val="dk1"/>
              </a:solidFill>
            </a:endParaRPr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900">
                <a:solidFill>
                  <a:schemeClr val="dk1"/>
                </a:solidFill>
              </a:rPr>
              <a:t>Automatically managed by Python</a:t>
            </a:r>
            <a:br>
              <a:rPr lang="en" sz="4900">
                <a:solidFill>
                  <a:schemeClr val="dk1"/>
                </a:solidFill>
              </a:rPr>
            </a:b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5400" y="1017725"/>
            <a:ext cx="3480724" cy="3480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Module Search Path (</a:t>
            </a:r>
            <a:r>
              <a:rPr b="1" lang="en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sys.path</a:t>
            </a:r>
            <a:r>
              <a:rPr b="1" lang="en" sz="2500"/>
              <a:t>)</a:t>
            </a:r>
            <a:endParaRPr sz="2500"/>
          </a:p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List of directories Python searches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Current script directory first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Standard library locations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Site-packages for external modules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Accessible via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sys.path</a:t>
            </a:r>
            <a:b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6" name="Google Shape;136;p25"/>
          <p:cNvSpPr txBox="1"/>
          <p:nvPr/>
        </p:nvSpPr>
        <p:spPr>
          <a:xfrm>
            <a:off x="5049725" y="1391350"/>
            <a:ext cx="3000000" cy="1051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sys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 path in sys.path: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print(path)</a:t>
            </a:r>
            <a:endParaRPr sz="1100"/>
          </a:p>
        </p:txBody>
      </p:sp>
      <p:pic>
        <p:nvPicPr>
          <p:cNvPr id="137" name="Google Shape;13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2200" y="2571750"/>
            <a:ext cx="2688351" cy="2688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 Search Path Configuration</a:t>
            </a:r>
            <a:endParaRPr sz="2500"/>
          </a:p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-34559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350">
                <a:solidFill>
                  <a:schemeClr val="dk1"/>
                </a:solidFill>
              </a:rPr>
              <a:t>Modify </a:t>
            </a:r>
            <a:r>
              <a:rPr lang="en" sz="335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sys.path</a:t>
            </a:r>
            <a:r>
              <a:rPr lang="en" sz="3350">
                <a:solidFill>
                  <a:schemeClr val="dk1"/>
                </a:solidFill>
              </a:rPr>
              <a:t> at runtime</a:t>
            </a:r>
            <a:br>
              <a:rPr lang="en" sz="3350">
                <a:solidFill>
                  <a:schemeClr val="dk1"/>
                </a:solidFill>
              </a:rPr>
            </a:br>
            <a:endParaRPr sz="3350">
              <a:solidFill>
                <a:schemeClr val="dk1"/>
              </a:solidFill>
            </a:endParaRPr>
          </a:p>
          <a:p>
            <a:pPr indent="-34559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350">
                <a:solidFill>
                  <a:schemeClr val="dk1"/>
                </a:solidFill>
              </a:rPr>
              <a:t>Use </a:t>
            </a:r>
            <a:r>
              <a:rPr lang="en" sz="335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PYTHONPATH</a:t>
            </a:r>
            <a:r>
              <a:rPr lang="en" sz="3350">
                <a:solidFill>
                  <a:schemeClr val="dk1"/>
                </a:solidFill>
              </a:rPr>
              <a:t> environment variable</a:t>
            </a:r>
            <a:br>
              <a:rPr lang="en" sz="3350">
                <a:solidFill>
                  <a:schemeClr val="dk1"/>
                </a:solidFill>
              </a:rPr>
            </a:br>
            <a:endParaRPr sz="3350">
              <a:solidFill>
                <a:schemeClr val="dk1"/>
              </a:solidFill>
            </a:endParaRPr>
          </a:p>
          <a:p>
            <a:pPr indent="-34559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350">
                <a:solidFill>
                  <a:schemeClr val="dk1"/>
                </a:solidFill>
              </a:rPr>
              <a:t>Virtual environments control paths</a:t>
            </a:r>
            <a:br>
              <a:rPr lang="en" sz="3350">
                <a:solidFill>
                  <a:schemeClr val="dk1"/>
                </a:solidFill>
              </a:rPr>
            </a:br>
            <a:endParaRPr sz="3350">
              <a:solidFill>
                <a:schemeClr val="dk1"/>
              </a:solidFill>
            </a:endParaRPr>
          </a:p>
          <a:p>
            <a:pPr indent="-34559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350">
                <a:solidFill>
                  <a:schemeClr val="dk1"/>
                </a:solidFill>
              </a:rPr>
              <a:t>Project structure affects imports</a:t>
            </a:r>
            <a:br>
              <a:rPr lang="en" sz="3350">
                <a:solidFill>
                  <a:schemeClr val="dk1"/>
                </a:solidFill>
              </a:rPr>
            </a:br>
            <a:endParaRPr sz="3350">
              <a:solidFill>
                <a:schemeClr val="dk1"/>
              </a:solidFill>
            </a:endParaRPr>
          </a:p>
          <a:p>
            <a:pPr indent="-34559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350">
                <a:solidFill>
                  <a:schemeClr val="dk1"/>
                </a:solidFill>
              </a:rPr>
              <a:t>Best practices prevent conflicts</a:t>
            </a:r>
            <a:br>
              <a:rPr lang="en" sz="3350">
                <a:solidFill>
                  <a:schemeClr val="dk1"/>
                </a:solidFill>
              </a:rPr>
            </a:br>
            <a:endParaRPr sz="33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6"/>
          <p:cNvSpPr txBox="1"/>
          <p:nvPr/>
        </p:nvSpPr>
        <p:spPr>
          <a:xfrm>
            <a:off x="5574875" y="1111025"/>
            <a:ext cx="3000000" cy="15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Code Example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sys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sys.path.append("/my/custom/modules")</a:t>
            </a:r>
            <a:endParaRPr/>
          </a:p>
        </p:txBody>
      </p:sp>
      <p:pic>
        <p:nvPicPr>
          <p:cNvPr id="145" name="Google Shape;14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4350" y="2899625"/>
            <a:ext cx="2587924" cy="2587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Session Summary – Modules Big Picture</a:t>
            </a:r>
            <a:endParaRPr sz="2500"/>
          </a:p>
        </p:txBody>
      </p:sp>
      <p:sp>
        <p:nvSpPr>
          <p:cNvPr id="151" name="Google Shape;151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Modules structure Python programs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Imports control code visibility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Standard library is powerful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Python manages compilation automatically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Understanding imports prevents bugs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