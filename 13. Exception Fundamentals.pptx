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b168532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b168532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b168532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b168532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Emphasize that exceptions are </a:t>
            </a:r>
            <a:r>
              <a:rPr b="1" lang="en">
                <a:solidFill>
                  <a:schemeClr val="dk1"/>
                </a:solidFill>
              </a:rPr>
              <a:t>signals</a:t>
            </a:r>
            <a:r>
              <a:rPr lang="en">
                <a:solidFill>
                  <a:schemeClr val="dk1"/>
                </a:solidFill>
              </a:rPr>
              <a:t>, not bugs by default. Python is telling us something went wrong at runtime.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b168532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b168532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db168532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db168532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exceptions don’t “jump randomly” — they follow the call stack in a very predictable way.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b168532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db168532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b168532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db16853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Stress that catching </a:t>
            </a:r>
            <a:r>
              <a:rPr i="1" lang="en">
                <a:solidFill>
                  <a:schemeClr val="dk1"/>
                </a:solidFill>
              </a:rPr>
              <a:t>specific</a:t>
            </a:r>
            <a:r>
              <a:rPr lang="en">
                <a:solidFill>
                  <a:schemeClr val="dk1"/>
                </a:solidFill>
              </a:rPr>
              <a:t> exceptions is better than catching everything.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b168532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db168532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db168532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db168532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Relate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en" sz="1600">
                <a:solidFill>
                  <a:schemeClr val="dk1"/>
                </a:solidFill>
              </a:rPr>
              <a:t> to real-life cleanup: “no matter what happens, close the door”.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db168532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db168532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b168532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db168532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Highlight that custom exceptions are about </a:t>
            </a:r>
            <a:r>
              <a:rPr b="1" lang="en" sz="1600">
                <a:solidFill>
                  <a:schemeClr val="dk1"/>
                </a:solidFill>
              </a:rPr>
              <a:t>communication</a:t>
            </a:r>
            <a:r>
              <a:rPr lang="en" sz="1600">
                <a:solidFill>
                  <a:schemeClr val="dk1"/>
                </a:solidFill>
              </a:rPr>
              <a:t>, not complexity.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db168532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db168532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db168532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db168532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that raising early is better than letting bad data flow through the system.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b168532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db168532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db168532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db168532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this as “don’t hide the real problem—wrap it with context”.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db168532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db168532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db16853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db16853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Reinforce that good exception handling is a </a:t>
            </a:r>
            <a:r>
              <a:rPr b="1" lang="en">
                <a:solidFill>
                  <a:schemeClr val="dk1"/>
                </a:solidFill>
              </a:rPr>
              <a:t>design skill</a:t>
            </a:r>
            <a:r>
              <a:rPr lang="en">
                <a:solidFill>
                  <a:schemeClr val="dk1"/>
                </a:solidFill>
              </a:rPr>
              <a:t>, not just syntax.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Fundamentals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What Are Exceptions?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Exceptions are Python’s way of signaling that something unexpected or invalid happened during execution.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Exceptions interrupt the normal flow of a program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They represent runtime errors (not syntax errors)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Examples: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ValueError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TypeError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ZeroDivisionError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Unhandled exceptions stop the program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Handling exceptions makes programs more robust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 = int("abc")  # ValueError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print("This will not run")</a:t>
            </a:r>
            <a:endParaRPr sz="160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450" y="722550"/>
            <a:ext cx="3805350" cy="38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Exception Flow (How Errors Propagate)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When an exception occurs, Python looks for a handler by unwinding the call stack.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Exception starts where the error happens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searches upward through function calls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First matching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r>
              <a:rPr lang="en" sz="1600">
                <a:solidFill>
                  <a:schemeClr val="dk1"/>
                </a:solidFill>
              </a:rPr>
              <a:t> handles it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no handler is found → program crashes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This process is called </a:t>
            </a:r>
            <a:r>
              <a:rPr i="1" lang="en" sz="1600">
                <a:solidFill>
                  <a:schemeClr val="dk1"/>
                </a:solidFill>
              </a:rPr>
              <a:t>stack unwinding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level2():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10 / 0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level1():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level2()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level1()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000" y="1068513"/>
            <a:ext cx="3584325" cy="358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try / except: Handling Errors</a:t>
            </a:r>
            <a:endParaRPr sz="25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r>
              <a:rPr lang="en" sz="1600">
                <a:solidFill>
                  <a:schemeClr val="dk1"/>
                </a:solidFill>
              </a:rPr>
              <a:t> let you handle errors gracefully instead of crashing.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Code that may fail goes inside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Error-handling logic goes inside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You can catch specific exception types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program termination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controlled recovery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x = int("abc")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 ValueError: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print("Invalid number input")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0800" y="980400"/>
            <a:ext cx="3760550" cy="37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else and finally Blocks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1600">
                <a:solidFill>
                  <a:schemeClr val="dk1"/>
                </a:solidFill>
              </a:rPr>
              <a:t> runs when no exception occurs, and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en" sz="1600">
                <a:solidFill>
                  <a:schemeClr val="dk1"/>
                </a:solidFill>
              </a:rPr>
              <a:t> always runs.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1600">
                <a:solidFill>
                  <a:schemeClr val="dk1"/>
                </a:solidFill>
              </a:rPr>
              <a:t> executes only if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" sz="1600">
                <a:solidFill>
                  <a:schemeClr val="dk1"/>
                </a:solidFill>
              </a:rPr>
              <a:t> succeeds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en" sz="1600">
                <a:solidFill>
                  <a:schemeClr val="dk1"/>
                </a:solidFill>
              </a:rPr>
              <a:t> runs no matter what (error or not)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cleanup (files, connections)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clarity of success vs failure paths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Makes intent explicit</a:t>
            </a:r>
            <a:endParaRPr sz="160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325" y="1905000"/>
            <a:ext cx="2356150" cy="23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x = int("10")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 ValueError: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print("Conversion failed")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print("Conversion succeeded:", x)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print("Done")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Creating Custom Exceptions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Custom exceptions make errors more meaningful and domain-specific.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Built by subclassing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 readability and intent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business or domain rules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Easier to catch specific failures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Encourage clean error design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716225"/>
            <a:ext cx="2747026" cy="274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/>
              <a:t>Code Example</a:t>
            </a:r>
            <a:endParaRPr b="1" sz="2500"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InvalidAgeError(Exception):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set_age(age):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age &lt; 0: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raise InvalidAgeError("Age cannot be negative")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Raising Exceptions Intentionally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You can raise exceptions yourself to enforce rules and protect state.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raise</a:t>
            </a:r>
            <a:r>
              <a:rPr lang="en" sz="1600">
                <a:solidFill>
                  <a:schemeClr val="dk1"/>
                </a:solidFill>
              </a:rPr>
              <a:t> to signal invalid conditions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silent failures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Makes contracts explicit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Often paired with validation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Keeps bugs close to their source</a:t>
            </a:r>
            <a:br>
              <a:rPr lang="en" sz="1600">
                <a:solidFill>
                  <a:schemeClr val="dk1"/>
                </a:solidFill>
              </a:rPr>
            </a:b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975" y="1724800"/>
            <a:ext cx="3026424" cy="302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withdraw(balance, amount):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amount &gt; balance: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raise ValueError("Insufficient funds")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Exception Chaining (Root Cause Preservation)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Exception chaining keeps the original error while adding context.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raise ... from ...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Preserves original traceback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Adds higher-level meaning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Essential for debugging complex systems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layered architectures</a:t>
            </a:r>
            <a:br>
              <a:rPr lang="en" sz="1600">
                <a:solidFill>
                  <a:schemeClr val="dk1"/>
                </a:solidFill>
              </a:rPr>
            </a:b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5050" y="1759125"/>
            <a:ext cx="2877650" cy="28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int("abc")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 ValueError as e: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raise RuntimeError("Failed to parse user input") from 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</a:t>
            </a:r>
            <a:r>
              <a:rPr b="1" lang="en" sz="2500"/>
              <a:t>ey Takeaways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Exception handling is about control, clarity, and safety.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Exceptions control abnormal execution flow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try/except prevents crashes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else/finally clarify intent and cleanup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Custom exceptions improve design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Chaining preserves debugging context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