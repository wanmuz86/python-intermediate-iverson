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5143500" cx="9144000"/>
  <p:notesSz cx="6858000" cy="9144000"/>
  <p:embeddedFontLst>
    <p:embeddedFont>
      <p:font typeface="Roboto Mono"/>
      <p:regular r:id="rId19"/>
      <p:bold r:id="rId20"/>
      <p:italic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Mono-bold.fntdata"/><Relationship Id="rId11" Type="http://schemas.openxmlformats.org/officeDocument/2006/relationships/slide" Target="slides/slide6.xml"/><Relationship Id="rId22" Type="http://schemas.openxmlformats.org/officeDocument/2006/relationships/font" Target="fonts/RobotoMono-boldItalic.fntdata"/><Relationship Id="rId10" Type="http://schemas.openxmlformats.org/officeDocument/2006/relationships/slide" Target="slides/slide5.xml"/><Relationship Id="rId21" Type="http://schemas.openxmlformats.org/officeDocument/2006/relationships/font" Target="fonts/RobotoMono-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RobotoMono-regular.fntdata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bd72c813e1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bd72c813e1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 Explain that packages are the next level of organization after modules and are essential for real-world applications.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bd72c813e1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bd72c813e1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br>
              <a:rPr b="1" lang="en" sz="1600">
                <a:solidFill>
                  <a:schemeClr val="dk1"/>
                </a:solidFill>
              </a:rPr>
            </a:br>
            <a:r>
              <a:rPr lang="en" sz="1600">
                <a:solidFill>
                  <a:schemeClr val="dk1"/>
                </a:solidFill>
              </a:rPr>
              <a:t> Walk through how Python treats directories as packages and how modules are accessed using dot notation.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bd72c813e1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bd72c813e1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bd72c813e1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bd72c813e1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</a:rPr>
              <a:t> Explain historical vs modern behavior. Emphasize that </a:t>
            </a: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__init__.py</a:t>
            </a:r>
            <a:r>
              <a:rPr lang="en" sz="1600">
                <a:solidFill>
                  <a:schemeClr val="dk1"/>
                </a:solidFill>
              </a:rPr>
              <a:t> is still widely used for clarity and control.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bd72c813e1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bd72c813e1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</a:rPr>
              <a:t>Stress that absolute imports are preferred in most production code and avoid ambiguity.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bd72c813e1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bd72c813e1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Clarify that relative imports fail when a file is run directly. Emphasize running packages using 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python -m</a:t>
            </a:r>
            <a:r>
              <a:rPr lang="en">
                <a:solidFill>
                  <a:schemeClr val="dk1"/>
                </a:solidFill>
              </a:rPr>
              <a:t>.</a:t>
            </a:r>
            <a:endParaRPr sz="1800">
              <a:solidFill>
                <a:srgbClr val="595959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bd72c813e1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bd72c813e1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 Explain that namespace packages are powerful but usually unnecessary for beginners. Mention examples like large vendor libraries.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bd72c813e1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bd72c813e1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</a:rPr>
              <a:t> Tie back to Session 1’s </a:t>
            </a: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sys.path</a:t>
            </a:r>
            <a:r>
              <a:rPr lang="en" sz="1600">
                <a:solidFill>
                  <a:schemeClr val="dk1"/>
                </a:solidFill>
              </a:rPr>
              <a:t>. Explain how Python resolves each part of a dotted import.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bd72c813e1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bd72c813e1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688"/>
              <a:buFont typeface="Arial"/>
              <a:buNone/>
            </a:pPr>
            <a:r>
              <a:rPr lang="en" sz="1600">
                <a:solidFill>
                  <a:schemeClr val="dk1"/>
                </a:solidFill>
              </a:rPr>
              <a:t>Share real-world mistakes. Emphasize correct execution methods and clean structure.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bd72c813e1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bd72c813e1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</a:rPr>
              <a:t> Reinforce habits students should carry forward into professional development.</a:t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bd72c813e1_0_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bd72c813e1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bd72c813e1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bd72c813e1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</a:rPr>
              <a:t> Wrap up by connecting packages to upcoming topics like virtual environments, pip, and project distribution.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Intermediate Python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Packages &amp; Relative Imports</a:t>
            </a:r>
            <a:endParaRPr/>
          </a:p>
        </p:txBody>
      </p:sp>
      <p:pic>
        <p:nvPicPr>
          <p:cNvPr id="56" name="Google Shape;5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99100" y="253734"/>
            <a:ext cx="1854751" cy="453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62138" y="3626725"/>
            <a:ext cx="1419725" cy="1419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500"/>
              <a:t>Packages &amp; Relative Imports – Overview</a:t>
            </a:r>
            <a:endParaRPr sz="2500"/>
          </a:p>
        </p:txBody>
      </p:sp>
      <p:sp>
        <p:nvSpPr>
          <p:cNvPr id="63" name="Google Shape;63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Organizing large Python projects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Grouping related modules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Managing import paths cleanly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Understanding absolute vs relative imports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Avoiding common package issues</a:t>
            </a:r>
            <a:br>
              <a:rPr lang="en" sz="1600">
                <a:solidFill>
                  <a:schemeClr val="dk1"/>
                </a:solidFill>
              </a:rPr>
            </a:br>
            <a:endParaRPr sz="1600"/>
          </a:p>
        </p:txBody>
      </p:sp>
      <p:pic>
        <p:nvPicPr>
          <p:cNvPr id="64" name="Google Shape;6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82300" y="1386588"/>
            <a:ext cx="2948175" cy="2948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500"/>
              <a:t> Package Structure</a:t>
            </a:r>
            <a:endParaRPr b="1" sz="25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1" sz="2500"/>
          </a:p>
        </p:txBody>
      </p:sp>
      <p:sp>
        <p:nvSpPr>
          <p:cNvPr id="70" name="Google Shape;70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Packages are directories of modules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Folder name becomes package name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Can contain sub-packages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Improves project organization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Scales for large applications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00"/>
          </a:p>
        </p:txBody>
      </p:sp>
      <p:pic>
        <p:nvPicPr>
          <p:cNvPr id="71" name="Google Shape;71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26800" y="958475"/>
            <a:ext cx="3320599" cy="33205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500"/>
              <a:t>Code Example</a:t>
            </a:r>
            <a:endParaRPr sz="2500"/>
          </a:p>
        </p:txBody>
      </p:sp>
      <p:sp>
        <p:nvSpPr>
          <p:cNvPr id="77" name="Google Shape;7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project/</a:t>
            </a:r>
            <a:endParaRPr sz="16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│── main.py</a:t>
            </a:r>
            <a:endParaRPr sz="16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│── mypackage/</a:t>
            </a:r>
            <a:endParaRPr sz="16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│   ├── utils.py</a:t>
            </a:r>
            <a:endParaRPr sz="16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│   └── helpers.py</a:t>
            </a:r>
            <a:endParaRPr sz="16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5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__init__.py</a:t>
            </a:r>
            <a:endParaRPr sz="2500"/>
          </a:p>
        </p:txBody>
      </p:sp>
      <p:sp>
        <p:nvSpPr>
          <p:cNvPr id="83" name="Google Shape;83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Marks directory as a package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Executes on package import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Can initialize package state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Controls exposed API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Optional in Python 3.3+</a:t>
            </a:r>
            <a:endParaRPr sz="1600"/>
          </a:p>
        </p:txBody>
      </p:sp>
      <p:sp>
        <p:nvSpPr>
          <p:cNvPr id="84" name="Google Shape;84;p17"/>
          <p:cNvSpPr txBox="1"/>
          <p:nvPr/>
        </p:nvSpPr>
        <p:spPr>
          <a:xfrm>
            <a:off x="5618000" y="1395025"/>
            <a:ext cx="3000000" cy="10512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Code Example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# mypackage/__init__.py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from .utils import add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id="85" name="Google Shape;85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47150" y="2656325"/>
            <a:ext cx="2341701" cy="2341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500"/>
              <a:t>Absolute Imports</a:t>
            </a:r>
            <a:endParaRPr b="1" sz="25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1" sz="2500"/>
          </a:p>
        </p:txBody>
      </p:sp>
      <p:sp>
        <p:nvSpPr>
          <p:cNvPr id="91" name="Google Shape;91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Full path from project root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Clear and explicit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Recommended approach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Easier to read and debug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Stable across refactoring</a:t>
            </a:r>
            <a:br>
              <a:rPr lang="en" sz="1600">
                <a:solidFill>
                  <a:schemeClr val="dk1"/>
                </a:solidFill>
              </a:rPr>
            </a:br>
            <a:endParaRPr sz="1600"/>
          </a:p>
        </p:txBody>
      </p:sp>
      <p:sp>
        <p:nvSpPr>
          <p:cNvPr id="92" name="Google Shape;92;p18"/>
          <p:cNvSpPr txBox="1"/>
          <p:nvPr/>
        </p:nvSpPr>
        <p:spPr>
          <a:xfrm>
            <a:off x="5832300" y="1214700"/>
            <a:ext cx="3000000" cy="115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</a:rPr>
              <a:t>Code Example</a:t>
            </a:r>
            <a:endParaRPr b="1"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from mypackage.utils import add</a:t>
            </a:r>
            <a:endParaRPr sz="16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id="93" name="Google Shape;93;p18" title="Screenshot 2026-02-08 at 10.52.39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42650" y="2969426"/>
            <a:ext cx="4389649" cy="1599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500"/>
              <a:t>Relative Imports</a:t>
            </a:r>
            <a:endParaRPr b="1" sz="25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1" sz="2500"/>
          </a:p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Use dot notation (</a:t>
            </a: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en" sz="1600">
                <a:solidFill>
                  <a:schemeClr val="dk1"/>
                </a:solidFill>
              </a:rPr>
              <a:t> and </a:t>
            </a: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..</a:t>
            </a:r>
            <a:r>
              <a:rPr lang="en" sz="1600">
                <a:solidFill>
                  <a:schemeClr val="dk1"/>
                </a:solidFill>
              </a:rPr>
              <a:t>)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Relative to current package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Shorter import paths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Only work inside packages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Not usable in scripts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br>
              <a:rPr b="1" lang="en" sz="1600">
                <a:solidFill>
                  <a:schemeClr val="dk1"/>
                </a:solidFill>
              </a:rPr>
            </a:br>
            <a:r>
              <a:rPr lang="en" sz="1600">
                <a:solidFill>
                  <a:schemeClr val="dk1"/>
                </a:solidFill>
              </a:rPr>
              <a:t> </a:t>
            </a:r>
            <a:endParaRPr sz="1600"/>
          </a:p>
        </p:txBody>
      </p:sp>
      <p:sp>
        <p:nvSpPr>
          <p:cNvPr id="100" name="Google Shape;100;p19"/>
          <p:cNvSpPr txBox="1"/>
          <p:nvPr/>
        </p:nvSpPr>
        <p:spPr>
          <a:xfrm>
            <a:off x="5409200" y="1309600"/>
            <a:ext cx="3000000" cy="10512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Code Example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from .utils import add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from ..common import config</a:t>
            </a:r>
            <a:endParaRPr/>
          </a:p>
        </p:txBody>
      </p:sp>
      <p:pic>
        <p:nvPicPr>
          <p:cNvPr id="101" name="Google Shape;101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87400" y="2571750"/>
            <a:ext cx="2502149" cy="25021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500"/>
              <a:t>Namespace Packages (Python 3.3+)</a:t>
            </a:r>
            <a:endParaRPr b="1" sz="25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1" sz="2500"/>
          </a:p>
        </p:txBody>
      </p:sp>
      <p:sp>
        <p:nvSpPr>
          <p:cNvPr id="107" name="Google Shape;107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Packages without </a:t>
            </a: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__init__.py</a:t>
            </a:r>
            <a:b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endParaRPr sz="16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Spread across multiple directories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Useful for large frameworks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Automatically merged namespaces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Advanced use case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108" name="Google Shape;108;p20"/>
          <p:cNvSpPr txBox="1"/>
          <p:nvPr/>
        </p:nvSpPr>
        <p:spPr>
          <a:xfrm>
            <a:off x="5786700" y="1074650"/>
            <a:ext cx="3000000" cy="10512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Code Example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pkg_a/mypkg/module1.py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pkg_b/mypkg/module2.py</a:t>
            </a:r>
            <a:endParaRPr/>
          </a:p>
        </p:txBody>
      </p:sp>
      <p:pic>
        <p:nvPicPr>
          <p:cNvPr id="109" name="Google Shape;109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18850" y="2348375"/>
            <a:ext cx="2578076" cy="25780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500"/>
              <a:t>Package Lookup Rules</a:t>
            </a:r>
            <a:endParaRPr sz="2500"/>
          </a:p>
        </p:txBody>
      </p:sp>
      <p:sp>
        <p:nvSpPr>
          <p:cNvPr id="115" name="Google Shape;115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Python searches </a:t>
            </a: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sys.path</a:t>
            </a:r>
            <a:b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endParaRPr sz="16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Finds top-level package first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Resolves submodules step-by-step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Caches loaded packages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Errors raise </a:t>
            </a: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ModuleNotFoundError</a:t>
            </a:r>
            <a:endParaRPr sz="1600"/>
          </a:p>
        </p:txBody>
      </p:sp>
      <p:sp>
        <p:nvSpPr>
          <p:cNvPr id="116" name="Google Shape;116;p21"/>
          <p:cNvSpPr txBox="1"/>
          <p:nvPr/>
        </p:nvSpPr>
        <p:spPr>
          <a:xfrm>
            <a:off x="5222425" y="967975"/>
            <a:ext cx="3000000" cy="7026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Code Example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import mypackage.utils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id="117" name="Google Shape;117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22425" y="1863175"/>
            <a:ext cx="3280325" cy="3280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500"/>
              <a:t>Common Pitfalls</a:t>
            </a:r>
            <a:endParaRPr b="1" sz="25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1" sz="2500"/>
          </a:p>
        </p:txBody>
      </p:sp>
      <p:sp>
        <p:nvSpPr>
          <p:cNvPr id="123" name="Google Shape;123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Running modules directly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Incorrect relative imports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Missing </a:t>
            </a: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__init__.py</a:t>
            </a:r>
            <a:b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endParaRPr sz="16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302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Name conflicts with stdlib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Broken project structure</a:t>
            </a:r>
            <a:br>
              <a:rPr lang="en" sz="1600">
                <a:solidFill>
                  <a:schemeClr val="dk1"/>
                </a:solidFill>
              </a:rPr>
            </a:br>
            <a:endParaRPr sz="1600"/>
          </a:p>
        </p:txBody>
      </p:sp>
      <p:sp>
        <p:nvSpPr>
          <p:cNvPr id="124" name="Google Shape;124;p22"/>
          <p:cNvSpPr txBox="1"/>
          <p:nvPr/>
        </p:nvSpPr>
        <p:spPr>
          <a:xfrm>
            <a:off x="5788800" y="1017725"/>
            <a:ext cx="3000000" cy="8295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Code Example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python utils.py   # causes import errors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500"/>
              <a:t>Best Practices</a:t>
            </a:r>
            <a:endParaRPr b="1" sz="25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1" sz="2500"/>
          </a:p>
        </p:txBody>
      </p:sp>
      <p:sp>
        <p:nvSpPr>
          <p:cNvPr id="130" name="Google Shape;130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Prefer absolute imports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Use </a:t>
            </a: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__init__.py</a:t>
            </a:r>
            <a:r>
              <a:rPr lang="en" sz="1600">
                <a:solidFill>
                  <a:schemeClr val="dk1"/>
                </a:solidFill>
              </a:rPr>
              <a:t> intentionally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Avoid wildcard imports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Keep package structure simple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Test imports early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131" name="Google Shape;131;p23"/>
          <p:cNvSpPr txBox="1"/>
          <p:nvPr/>
        </p:nvSpPr>
        <p:spPr>
          <a:xfrm>
            <a:off x="5832300" y="1243150"/>
            <a:ext cx="3000000" cy="7026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Code Example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python -m mypackage.module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36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00250" y="0"/>
            <a:ext cx="5143501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500"/>
              <a:t>Session Summary – Packages &amp; Imports</a:t>
            </a:r>
            <a:endParaRPr b="1" sz="25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2500"/>
          </a:p>
        </p:txBody>
      </p:sp>
      <p:sp>
        <p:nvSpPr>
          <p:cNvPr id="142" name="Google Shape;142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Packages organize modules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__init__.py</a:t>
            </a:r>
            <a:r>
              <a:rPr lang="en" sz="1600">
                <a:solidFill>
                  <a:schemeClr val="dk1"/>
                </a:solidFill>
              </a:rPr>
              <a:t> controls behavior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Absolute imports are preferred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Relative imports have limits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Structure prevents import errors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